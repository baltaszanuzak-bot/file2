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6452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389120" cy="4389120"/>
          </a:xfrm>
          <a:prstGeom prst="ellipse">
            <a:avLst/>
          </a:prstGeom>
          <a:solidFill>
            <a:srgbClr val="00C9A7">
              <a:alpha val="14000"/>
            </a:srgbClr>
          </a:solidFill>
          <a:ln w="12700">
            <a:solidFill>
              <a:srgbClr val="00C9A7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79C0FF">
              <a:alpha val="12000"/>
            </a:srgbClr>
          </a:solidFill>
          <a:ln w="12700">
            <a:solidFill>
              <a:srgbClr val="79C0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CODY TECH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толық талдауы — HTML • CSS • JavaScript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359152"/>
            <a:ext cx="201168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құрылымы • Navbar • Hero • CSS тема • JS функциялар • Авторизация • Burger меню • Responsive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035808"/>
            <a:ext cx="1600200" cy="841248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749808" y="306324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49808" y="3493008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бет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59152" y="3035808"/>
            <a:ext cx="1600200" cy="841248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2468880" y="306324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DC9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750+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68880" y="3493008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Жол код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78224" y="3035808"/>
            <a:ext cx="1600200" cy="841248"/>
          </a:xfrm>
          <a:prstGeom prst="rect">
            <a:avLst/>
          </a:prstGeom>
          <a:solidFill>
            <a:srgbClr val="1C2129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4187952" y="306324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187952" y="3493008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файл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97296" y="3035808"/>
            <a:ext cx="1600200" cy="841248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5907024" y="306324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88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907024" y="3493008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файл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16368" y="3035808"/>
            <a:ext cx="1600200" cy="841248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7626096" y="306324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9C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626096" y="3493008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Тіл EN/RU/KZ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7731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Cody Tech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ФАЙЛ ҚҰРЫЛЫМЫ — ЖОБАНЫҢ БАРЛЫК ФАЙЛДАРЫ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950976"/>
            <a:ext cx="832104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3657600" cy="3730752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3657600" cy="246888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21208" y="108813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85800" y="108813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0392" y="108813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39496" y="1325880"/>
            <a:ext cx="342900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codytech/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login.html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learning.html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style.css  (887 жол)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styles.css (286 жол)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script.js  (273 жол)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learn/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learn-html.html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learn-css.html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learn-js.html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learn-python.html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learn-java.html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learn-php.html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learn-rust.html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learn-kotlin.html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learn-swift.html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learn-sql.html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learn-c++.html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learn-typescript.html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1024128"/>
            <a:ext cx="4480560" cy="475488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251960" y="1024128"/>
            <a:ext cx="45720" cy="47548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370832" y="1060704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70832" y="1280160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Басты бет — hero, about, features, CTA бөлімдері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51960" y="1552651"/>
            <a:ext cx="4480560" cy="475488"/>
          </a:xfrm>
          <a:prstGeom prst="rect">
            <a:avLst/>
          </a:prstGeom>
          <a:solidFill>
            <a:srgbClr val="1C2129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4251960" y="1552651"/>
            <a:ext cx="45720" cy="47548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370832" y="1589227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login.html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70832" y="1808683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Кіру/Тіркелу беті — tabs, форм, localStorage auth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51960" y="2081174"/>
            <a:ext cx="4480560" cy="475488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4251960" y="2081174"/>
            <a:ext cx="45720" cy="475488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4370832" y="2117750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learning.html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70832" y="2337206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Курстар каталогы — карточкалар + санат сүзгісі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51960" y="2609698"/>
            <a:ext cx="4480560" cy="475488"/>
          </a:xfrm>
          <a:prstGeom prst="rect">
            <a:avLst/>
          </a:prstGeom>
          <a:solidFill>
            <a:srgbClr val="1C2129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251960" y="2609698"/>
            <a:ext cx="45720" cy="47548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4370832" y="2646274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70832" y="2865730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Негізгі стильдер — dark/light, navbar, hero, responsive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51960" y="3138221"/>
            <a:ext cx="4480560" cy="475488"/>
          </a:xfrm>
          <a:prstGeom prst="rect">
            <a:avLst/>
          </a:prstGeom>
          <a:solidFill>
            <a:srgbClr val="1C212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4251960" y="3138221"/>
            <a:ext cx="45720" cy="4754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4370832" y="3174797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70832" y="3394253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Курстар беті стилі — cards, filter, d-dots, media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51960" y="3666744"/>
            <a:ext cx="4480560" cy="475488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4251960" y="3666744"/>
            <a:ext cx="45720" cy="47548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4370832" y="3703320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70832" y="3922776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Барлық логика — тіл жүйесі, auth, scroll, burger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51960" y="4195267"/>
            <a:ext cx="4480560" cy="475488"/>
          </a:xfrm>
          <a:prstGeom prst="rect">
            <a:avLst/>
          </a:prstGeom>
          <a:solidFill>
            <a:srgbClr val="1C2129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4251960" y="4195267"/>
            <a:ext cx="45720" cy="475488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4370832" y="4231843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learn/*.html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70832" y="4451299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тіл үшін жеке оқу беттері — sidebar + code examples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HTML — INDEX.HTML БЕТТІҢ СКЕЛЕТІ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950976"/>
            <a:ext cx="8321040" cy="4114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4251960" cy="3730752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4251960" cy="246888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21208" y="108813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85800" y="108813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0392" y="108813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39496" y="1325880"/>
            <a:ext cx="402336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lang='en'&gt;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charset='UTF-8'&gt;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&lt;title&gt;Cody tech&lt;/title&gt;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 rel='stylesheet'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href='style.css'&gt;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&lt;nav class='navbar'&gt;...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&lt;section class='hero'&gt;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 data-i='hero_title'&gt;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Cody Tech&lt;/h1&gt;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onclick=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'location.href=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"learning.html"'&gt;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&lt;/section&gt;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&lt;section id='about'&gt;...&lt;/&gt;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&lt;section id='features'&gt;...&lt;/&gt;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&lt;section class='section1'&gt;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&lt;footer&gt;...&lt;/footer&gt;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 src='script.js'&gt;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&lt;/body&gt;&lt;/html&gt;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024128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892040" y="1024128"/>
            <a:ext cx="45720" cy="54864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010912" y="10607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10912" y="129844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Браузерге «HTML5 құжаты» деп хабарлайды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60881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4892040" y="1560881"/>
            <a:ext cx="45720" cy="5486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010912" y="1597457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rel='stylesheet'&gt;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10912" y="1835201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файлын жүктейді — &lt;head&gt; ішінде болуы міндет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2097634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4892040" y="2097634"/>
            <a:ext cx="45720" cy="548640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010912" y="213421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data-i='hero_title'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10912" y="237195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Аудармашы кілті — setLang() осыны тауып мәтін ауыстырады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634386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892040" y="2634386"/>
            <a:ext cx="45720" cy="5486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010912" y="267096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onclick='location.href=...'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10912" y="290870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Батырма басылғанда беті ауыстырады — learning.html-ге өтеді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3171139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4892040" y="3171139"/>
            <a:ext cx="45720" cy="54864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5010912" y="3207715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id='about', id='features'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10912" y="3445459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ID — navbar сілтемелері #about, #features-ге секіреді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3707892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4892040" y="3707892"/>
            <a:ext cx="45720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5010912" y="37444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src='script.js'&gt;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10912" y="398221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файлы &lt;body&gt; соңында — DOM дайын болсын деп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4244645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4892040" y="4244645"/>
            <a:ext cx="45720" cy="548640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5010912" y="4281221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class='section1'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10912" y="4518965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бөлімі — соңғы «Бастау» батырмасы орналасқан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HTML — NAVBAR + BURGER МЕНЮ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950976"/>
            <a:ext cx="832104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4251960" cy="3730752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4251960" cy="246888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21208" y="108813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85800" y="108813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0392" y="108813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39496" y="1325880"/>
            <a:ext cx="402336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 class='navbar'&gt;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class='logo'&gt;CODY&lt;/div&gt;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&lt;ul&gt;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&lt;a href='#about'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data-i='nav_about'&gt;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About&lt;/a&gt;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&lt;/li&gt;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&lt;/ul&gt;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class='nav-controls'&gt;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class='ctrl-btn'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onclick='setLang("en",this)'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&gt;EN&lt;/button&gt;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id='themeBtn'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onclick='toggleTheme()'&gt;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id='loginLink'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href='login.html'&gt;Login&lt;/a&gt;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id='avatarWrap'&gt;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&lt;!-- Avatar circle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class='burger'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id='burgerBtn'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onclick='toggleBurger()'&gt;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&lt;span&gt;&lt;/span&gt;&lt;span&gt;&lt;/span&gt;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&lt;span&gt;&lt;/span&gt;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&lt;/button&gt;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&lt;/nav&gt;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024128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892040" y="1024128"/>
            <a:ext cx="45720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010912" y="10607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class='navbar'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10912" y="129844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position:fixed — бет айналдырса да жоғарыда қалады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60881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4892040" y="1560881"/>
            <a:ext cx="45720" cy="548640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010912" y="1597457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data-i='nav_about'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10912" y="1835201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Аудармашы кілті — тіл ауысқанда мәтін өзгереді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2097634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4892040" y="2097634"/>
            <a:ext cx="45720" cy="5486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010912" y="213421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onclick='setLang("en")'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10912" y="237195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батырмасы — setLang('en', this) шақырады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634386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892040" y="2634386"/>
            <a:ext cx="45720" cy="54864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010912" y="267096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onclick='toggleTheme()'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10912" y="290870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батырмасы — body.light класын қосады/алады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3171139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4892040" y="3171139"/>
            <a:ext cx="45720" cy="5486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5010912" y="3207715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id='loginLink'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10912" y="3445459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Кірмеген кезде көрінеді, кіргенде display:none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3707892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4892040" y="3707892"/>
            <a:ext cx="45720" cy="548640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5010912" y="37444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id='avatarWrap'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10912" y="398221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Кіргенде көрінеді — аты бастапқы әрпін шеңберде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4244645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4892040" y="4244645"/>
            <a:ext cx="45720" cy="5486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5010912" y="4281221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class='burger' + 3 span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10912" y="4518965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 батырма — 3 &lt;span&gt; = 3 сызық → X анимация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HTML — LOGIN.HTML КІРу / ТІРКЕЛУ БЕТІ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950976"/>
            <a:ext cx="8321040" cy="411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4251960" cy="3730752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4251960" cy="246888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21208" y="108813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85800" y="108813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0392" y="108813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39496" y="1325880"/>
            <a:ext cx="402336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Tabs: Кіру / Тіркелу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class='tabs'&gt;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class='tab active'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onclick='switchTab("login")'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&gt;Login&lt;/div&gt;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class='tab'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onclick='switchTab("register")'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&gt;Register&lt;/div&gt;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Кіру формы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id='loginForm'&gt;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class='form-group'&gt;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&lt;label&gt;USERNAME&lt;/label&gt;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&lt;input id='lu' type='text'&gt;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class='form-group'&gt;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&lt;label&gt;PASSWORD&lt;/label&gt;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&lt;input id='lp'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type='password'&gt;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onclick='doLogin()'&gt;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Login&lt;/button&gt;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id='loginMsg'&gt;&lt;/div&gt;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Тіркелу формы (display:none)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id='regForm' style=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'display:none'&gt;...&lt;/div&gt;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024128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892040" y="1024128"/>
            <a:ext cx="45720" cy="54864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010912" y="10607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class='tab active'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10912" y="129844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Белсенді tab — CSS .tab.active = #1100ff фон қосады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60881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4892040" y="1560881"/>
            <a:ext cx="45720" cy="5486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010912" y="1597457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onclick='switchTab(...)'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10912" y="1835201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ауысқанда loginForm/regForm display:block/none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2097634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4892040" y="2097634"/>
            <a:ext cx="45720" cy="548640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010912" y="213421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id='lu', id='lp'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10912" y="237195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Input-тардың ID-і — doLogin() document.getElementById арқылы оқиды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634386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892040" y="2634386"/>
            <a:ext cx="45720" cy="5486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010912" y="267096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type='password'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10912" y="290870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Парольді жасырады — браузер нүктелермен көрсетеді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3171139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4892040" y="3171139"/>
            <a:ext cx="45720" cy="5486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5010912" y="3207715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onclick='doLogin()'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10912" y="3445459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Кіру функциясы — localStorage-тан тексереді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3707892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4892040" y="3707892"/>
            <a:ext cx="45720" cy="548640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5010912" y="37444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id='loginMsg'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10912" y="398221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Хабарлама блогы — қате немесе сәтті хабарды осында шығарады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4244645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4892040" y="4244645"/>
            <a:ext cx="45720" cy="54864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5010912" y="4281221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style='display:none'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10912" y="4518965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Тіркелу формы бастапқыда жасырылған — tab ауысқанда ашылады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HTML — LEARNING.HTML КУРСТАР КАТАЛОГЫ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950976"/>
            <a:ext cx="8321040" cy="41148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4251960" cy="3730752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4251960" cy="246888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21208" y="108813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85800" y="108813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0392" y="108813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39496" y="1325880"/>
            <a:ext cx="402336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top-bar — жеңіл navbar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class='top-bar'&gt;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class='top-left'&gt;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&lt;span class='logo-txt'&gt;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CODY&lt;/span&gt;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href='index.html'&gt;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Back&lt;/a&gt;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Санат сүзгісі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class='filter-bar'&gt;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onclick=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'doFilter("all",this)'&gt;All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&lt;/button&gt;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onclick=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'doFilter("web",this)'&gt;Web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&lt;/button&gt;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Тіл карточкалары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class='lang-grid'&gt;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class='ref-card'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data-cat='web'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style='--c:#e34c26'&gt;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class='c-name'&gt;HTML&lt;/div&gt;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class='diff-row'&gt;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&lt;!-- d-dot нүктелер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href='learn/learn-html.html'&gt;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Start Learning&lt;/a&gt;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024128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892040" y="1024128"/>
            <a:ext cx="45720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010912" y="10607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class='top-bar'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10912" y="129844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орнына жеңіл заголовок — тек логотип + Back сілтемесі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60881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4892040" y="1560881"/>
            <a:ext cx="45720" cy="5486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010912" y="1597457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doFilter('web', this)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10912" y="1835201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санатын басса тек web data-cat-тағы карточкалар қалады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2097634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4892040" y="2097634"/>
            <a:ext cx="45720" cy="54864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010912" y="213421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class='lang-grid'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10912" y="237195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— 3 баған, 768px-да 2, 480px-да 1 бағанға түседі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634386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892040" y="2634386"/>
            <a:ext cx="45720" cy="548640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010912" y="267096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data-cat='web'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10912" y="290870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Карточканың санаты — doFilter осы мәнді тексеріп сүзеді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3171139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4892040" y="3171139"/>
            <a:ext cx="45720" cy="5486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5010912" y="3207715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style='--c:#e34c26'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10912" y="3445459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айнымалысы — тілдің брендтік түсін d-dot пен learn-btn-ге береді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3707892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4892040" y="3707892"/>
            <a:ext cx="45720" cy="548640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5010912" y="37444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class='diff-row'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10912" y="398221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Қиындық деңгейі — d-dot нүктелер + мәтін белгісі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4244645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4892040" y="4244645"/>
            <a:ext cx="45720" cy="5486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5010912" y="4281221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href='learn/learn-html.html'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10912" y="4518965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learn/ қалтасындағы оқу бетіне сілтеме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 — STYLE.CSS НЕГІЗГІ СТИЛЬДЕР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950976"/>
            <a:ext cx="8321040" cy="41148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4251960" cy="3730752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4251960" cy="246888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21208" y="108813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85800" y="108813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0392" y="108813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39496" y="1325880"/>
            <a:ext cx="402336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1. UNIVERSAL RESET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0; padding: 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box-sizing: border-box;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Arial, sans-serif;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scroll-behavior: smooth;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2. NAVBAR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.navbar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position: fixed; top:0;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100%;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backdrop-filter: blur(10px);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rgba(0,0,0,0.8);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z-index: 1000;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3. HERO БӨЛІМІ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.hero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min-height: 100vh;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center;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linear-gradient(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 bottom,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#000000cc, #000000ee),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url(bg) center/cover;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024128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892040" y="1024128"/>
            <a:ext cx="45720" cy="548640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010912" y="10607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box-sizing: border-box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10912" y="129844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өлшемге кіреді — элемент size-ын есептеу оңайлайды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60881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4892040" y="1560881"/>
            <a:ext cx="45720" cy="5486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010912" y="1597457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scroll-behavior: smooth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10912" y="1835201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#about сілтемесін басқанда тегіс scroll — секірмейді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2097634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4892040" y="2097634"/>
            <a:ext cx="45720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010912" y="213421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position: fixed; top:0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10912" y="237195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бетте бекітілген — айналдырсаң да жоғарыда тұрады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634386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892040" y="2634386"/>
            <a:ext cx="45720" cy="54864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010912" y="267096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backdrop-filter: blur(10px)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10912" y="290870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астындағы мазмұнды бұлыңғырлайды — шынылы эффект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3171139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4892040" y="3171139"/>
            <a:ext cx="45720" cy="5486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5010912" y="3207715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z-index: 1000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10912" y="3445459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барлық элементтің үстінде — dropdown жабылмасын деп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3707892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4892040" y="3707892"/>
            <a:ext cx="45720" cy="548640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5010912" y="37444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min-height: 100vh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10912" y="398221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экранның толық биіктігін алады — 100% viewport height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4244645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4892040" y="4244645"/>
            <a:ext cx="45720" cy="5486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5010912" y="4281221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linear-gradient(...) + url()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10912" y="4518965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 суретінің үстіне қараңғы gradient — мәтін оқылымды болсын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 — DARK / LIGHT ТЕМА ЖҮЙЕСІ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950976"/>
            <a:ext cx="8321040" cy="41148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4251960" cy="2331720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4251960" cy="246888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21208" y="108813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85800" y="108813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0392" y="108813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39496" y="1325880"/>
            <a:ext cx="4023360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DARK — әдепкі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 background: #0f0f0f; 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LIGHT — body.light класы болса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body.light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#f4f4f4;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#111;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body.light .navbar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rgba(255,255,255,.95);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body.light .card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#d8d8d8;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body.light .hero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linear-gradient(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#ffffffcc, #f0f0f0ee), url();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92040" y="1024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JS: toggleTheme() функциясы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92040" y="1371600"/>
            <a:ext cx="3840480" cy="1417320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4892040" y="1371600"/>
            <a:ext cx="3840480" cy="246888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5001768" y="143560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5166360" y="1435608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5330952" y="1435608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020056" y="1673352"/>
            <a:ext cx="3611880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dark = true;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toggleTheme()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dark = !dark; // true&lt;-&gt;false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document.body.classList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.toggle('light', !dark);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themeBtn.textContent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dark ? '🌙' : '☀';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92040" y="2880360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4892040" y="2880360"/>
            <a:ext cx="45720" cy="54864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5010912" y="291693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body.light { ... }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10912" y="315468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body-ге .light класы болса — барлық light стильдер іске қосылады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3447288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4892040" y="3447288"/>
            <a:ext cx="45720" cy="5486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5010912" y="34838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dark = !dark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10912" y="372160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flip: true → false → true. Тема алма-кезек ауысады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4014216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4892040" y="4014216"/>
            <a:ext cx="45720" cy="548640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5010912" y="40507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classList.toggle('light',!dark)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10912" y="428853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toggle(класс, шарт) — шарт true = қосады, false = алады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4581144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Shape 28"/>
          <p:cNvSpPr/>
          <p:nvPr/>
        </p:nvSpPr>
        <p:spPr>
          <a:xfrm>
            <a:off x="4892040" y="4581144"/>
            <a:ext cx="45720" cy="5486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5010912" y="46177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'🌙' : '☀'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10912" y="485546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operator — dark болса 🌙, болмаса ☀ батырмада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 — HOVER ЭФФЕКТІЛЕРІ ЖӘНЕ АНИМАЦИЯ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950976"/>
            <a:ext cx="8321040" cy="41148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4251960" cy="3730752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4251960" cy="246888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21208" y="108813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85800" y="108813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0392" y="108813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39496" y="1325880"/>
            <a:ext cx="402336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NEON батырма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.btn.neon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#1100ff;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25px;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transition: 0.3s;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.neon:hover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 0 0 20px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rgba(17,0,255,0.7);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transform: scale(1.05);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Карточка hover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 transition: 0.3s;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.card:hover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transform: translateY(-5px);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 0 10px 30px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rgba(17,0,255,0.2);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Avatar circle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.avatar-circle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linear-gradient(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135deg,#1100ff,#0077ff);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transition: box-shadow .2s,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transform .2s;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.avatar-circle:hover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transform: scale(1.05);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024128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892040" y="1024128"/>
            <a:ext cx="45720" cy="548640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010912" y="10607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transition: 0.3s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10912" y="129844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Барлық CSS өзгерісін 0.3 сек тегіс орындайды — hover жұмсартады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60881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4892040" y="1560881"/>
            <a:ext cx="45720" cy="54864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010912" y="1597457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box-shadow: 0 0 20px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10912" y="1835201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жарқыл: x=0, y=0, blur=20px — батырмадан жарық шығады сияқты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2097634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4892040" y="2097634"/>
            <a:ext cx="45720" cy="5486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010912" y="213421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transform: scale(1.05)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10912" y="237195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Батырма 5%-ке үлкейеді — басу сезімін береді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634386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892040" y="2634386"/>
            <a:ext cx="45720" cy="5486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010912" y="267096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translateY(-5px)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10912" y="290870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5px жоғары сырғиды — hover-да «ұшу» эффекті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3171139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4892040" y="3171139"/>
            <a:ext cx="45720" cy="548640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5010912" y="3207715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linear-gradient(135deg...)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10912" y="3445459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градус бұрышта градиент — #1100ff синнен #0077ff-ке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3707892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4892040" y="3707892"/>
            <a:ext cx="45720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5010912" y="37444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border-radius: 25px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10912" y="398221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Үлкен border-radius — батырманы толығымен дөңгелектейді (pill)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4244645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4892040" y="4244645"/>
            <a:ext cx="45720" cy="5486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5010912" y="4281221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rgba(17,0,255,0.2)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10912" y="4518965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мөлдірлікпен синді shadow — hover-да тереңдік беред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 — BURGER МЕНЮ + RESPONSIVE @MEDIA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950976"/>
            <a:ext cx="8321040" cy="4114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4251960" cy="3730752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4251960" cy="246888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21208" y="108813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85800" y="108813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0392" y="108813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39496" y="1325880"/>
            <a:ext cx="402336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Burger — десктопта жасырылған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.burger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none;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8px;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.burger span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width:20px; height:2px;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white;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transition: 0.3s;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X анимация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.burger.open span:nth-child(1){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transform: translateY(7px)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rotate(45deg);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.burger.open span:nth-child(2){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opacity: 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.burger.open span:nth-child(3){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transform: translateY(-7px)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rotate(-45deg);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768px — Burger ПАЙДА БОЛАДЫ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768px)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.burger { display: flex;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.navbar ul { display: none;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.navbar ul.open { display:flex;}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480px)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.ctrl-btn { display: none;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.lang-grid { columns: 1fr !i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024128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892040" y="1024128"/>
            <a:ext cx="45720" cy="5486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010912" y="10607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.burger { display:none }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10912" y="129844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Десктопта жасырылған — тек @media 768px-да пайда болады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60881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4892040" y="1560881"/>
            <a:ext cx="45720" cy="5486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010912" y="1597457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.burger span × 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10912" y="1835201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&lt;span&gt; — 3 сызықты білдіреді, CSS арқылы X-ке айналады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2097634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4892040" y="2097634"/>
            <a:ext cx="45720" cy="548640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010912" y="213421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nth-child(1): rotate(45deg)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10912" y="237195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1-сызық +45 градус бұрылады — X-тің жоғарғы жолағы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634386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892040" y="2634386"/>
            <a:ext cx="45720" cy="5486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010912" y="267096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nth-child(2): opacity:0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10912" y="290870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Ортаңғы сызық жоғалады — X-те ортаңғы жол жоқ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3171139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4892040" y="3171139"/>
            <a:ext cx="45720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5010912" y="3207715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nth-child(3): rotate(-45deg)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10912" y="3445459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3-сызық -45 градус бұрылады — X-тің төменгі жолағы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3707892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4892040" y="3707892"/>
            <a:ext cx="45720" cy="54864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5010912" y="37444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768px)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10912" y="398221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Планшет/телефон — 768px-дан кіші болса бұл стильдер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4244645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4892040" y="4244645"/>
            <a:ext cx="45720" cy="548640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5010912" y="4281221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480px)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10912" y="4518965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Кіші телефондар — ctrl-btn жасырылады, grid 1 баған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 — DIFFICULTY DOTS + CSS GRID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950976"/>
            <a:ext cx="8321040" cy="4114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4251960" cy="2377440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4251960" cy="246888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21208" y="108813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85800" y="108813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0392" y="108813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39496" y="1325880"/>
            <a:ext cx="402336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Қиындық нүктелері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.diff-row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 gap:7px;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.d-dot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width:7px; height:7px;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50%;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#2e2e2e;/* сөнген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.d-dot.on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var(--c); /* жанған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3474720"/>
            <a:ext cx="4251960" cy="1298448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11480" y="3474720"/>
            <a:ext cx="4251960" cy="246888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521208" y="353872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685800" y="3538728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850392" y="3538728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539496" y="3776472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CSS Grid — карточкалар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.lang-grid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repeat(auto-fill,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minmax(240px, 1fr));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16px;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10241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деңгей — var(--c) тілдің түсімен: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92040" y="1444752"/>
            <a:ext cx="3840480" cy="493776"/>
          </a:xfrm>
          <a:prstGeom prst="rect">
            <a:avLst/>
          </a:prstGeom>
          <a:solidFill>
            <a:srgbClr val="1C2129"/>
          </a:solidFill>
          <a:ln w="12700">
            <a:solidFill>
              <a:srgbClr val="E34C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5010912" y="1609344"/>
            <a:ext cx="146304" cy="146304"/>
          </a:xfrm>
          <a:prstGeom prst="ellipse">
            <a:avLst/>
          </a:prstGeom>
          <a:solidFill>
            <a:srgbClr val="E34C26"/>
          </a:solidFill>
          <a:ln w="12700">
            <a:solidFill>
              <a:srgbClr val="E34C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5239512" y="1609344"/>
            <a:ext cx="146304" cy="146304"/>
          </a:xfrm>
          <a:prstGeom prst="ellipse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5468112" y="1609344"/>
            <a:ext cx="146304" cy="146304"/>
          </a:xfrm>
          <a:prstGeom prst="ellipse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5696712" y="1609344"/>
            <a:ext cx="146304" cy="146304"/>
          </a:xfrm>
          <a:prstGeom prst="ellipse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5925312" y="1609344"/>
            <a:ext cx="146304" cy="146304"/>
          </a:xfrm>
          <a:prstGeom prst="ellipse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6263640" y="15544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4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2011680"/>
            <a:ext cx="3840480" cy="493776"/>
          </a:xfrm>
          <a:prstGeom prst="rect">
            <a:avLst/>
          </a:prstGeom>
          <a:solidFill>
            <a:srgbClr val="1C2129"/>
          </a:solidFill>
          <a:ln w="12700">
            <a:solidFill>
              <a:srgbClr val="3572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5010912" y="2176272"/>
            <a:ext cx="146304" cy="146304"/>
          </a:xfrm>
          <a:prstGeom prst="ellipse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5239512" y="2176272"/>
            <a:ext cx="146304" cy="146304"/>
          </a:xfrm>
          <a:prstGeom prst="ellipse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5468112" y="2176272"/>
            <a:ext cx="146304" cy="146304"/>
          </a:xfrm>
          <a:prstGeom prst="ellipse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Shape 26"/>
          <p:cNvSpPr/>
          <p:nvPr/>
        </p:nvSpPr>
        <p:spPr>
          <a:xfrm>
            <a:off x="5696712" y="2176272"/>
            <a:ext cx="146304" cy="146304"/>
          </a:xfrm>
          <a:prstGeom prst="ellipse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Shape 27"/>
          <p:cNvSpPr/>
          <p:nvPr/>
        </p:nvSpPr>
        <p:spPr>
          <a:xfrm>
            <a:off x="5925312" y="2176272"/>
            <a:ext cx="146304" cy="146304"/>
          </a:xfrm>
          <a:prstGeom prst="ellipse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6263640" y="21214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7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92040" y="2578608"/>
            <a:ext cx="3840480" cy="493776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Shape 30"/>
          <p:cNvSpPr/>
          <p:nvPr/>
        </p:nvSpPr>
        <p:spPr>
          <a:xfrm>
            <a:off x="5010912" y="2743200"/>
            <a:ext cx="146304" cy="146304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5239512" y="2743200"/>
            <a:ext cx="146304" cy="146304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Shape 32"/>
          <p:cNvSpPr/>
          <p:nvPr/>
        </p:nvSpPr>
        <p:spPr>
          <a:xfrm>
            <a:off x="5468112" y="2743200"/>
            <a:ext cx="146304" cy="146304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5696712" y="2743200"/>
            <a:ext cx="146304" cy="146304"/>
          </a:xfrm>
          <a:prstGeom prst="ellipse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Shape 34"/>
          <p:cNvSpPr/>
          <p:nvPr/>
        </p:nvSpPr>
        <p:spPr>
          <a:xfrm>
            <a:off x="5925312" y="2743200"/>
            <a:ext cx="146304" cy="146304"/>
          </a:xfrm>
          <a:prstGeom prst="ellipse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Text 35"/>
          <p:cNvSpPr/>
          <p:nvPr/>
        </p:nvSpPr>
        <p:spPr>
          <a:xfrm>
            <a:off x="6263640" y="268833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892040" y="3145536"/>
            <a:ext cx="3840480" cy="493776"/>
          </a:xfrm>
          <a:prstGeom prst="rect">
            <a:avLst/>
          </a:prstGeom>
          <a:solidFill>
            <a:srgbClr val="1C2129"/>
          </a:solidFill>
          <a:ln w="12700">
            <a:solidFill>
              <a:srgbClr val="F34B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Shape 37"/>
          <p:cNvSpPr/>
          <p:nvPr/>
        </p:nvSpPr>
        <p:spPr>
          <a:xfrm>
            <a:off x="5010912" y="3310128"/>
            <a:ext cx="146304" cy="146304"/>
          </a:xfrm>
          <a:prstGeom prst="ellipse">
            <a:avLst/>
          </a:prstGeom>
          <a:solidFill>
            <a:srgbClr val="F34B7D"/>
          </a:solidFill>
          <a:ln w="12700">
            <a:solidFill>
              <a:srgbClr val="F34B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Shape 38"/>
          <p:cNvSpPr/>
          <p:nvPr/>
        </p:nvSpPr>
        <p:spPr>
          <a:xfrm>
            <a:off x="5239512" y="3310128"/>
            <a:ext cx="146304" cy="146304"/>
          </a:xfrm>
          <a:prstGeom prst="ellipse">
            <a:avLst/>
          </a:prstGeom>
          <a:solidFill>
            <a:srgbClr val="F34B7D"/>
          </a:solidFill>
          <a:ln w="12700">
            <a:solidFill>
              <a:srgbClr val="F34B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1" name="Shape 39"/>
          <p:cNvSpPr/>
          <p:nvPr/>
        </p:nvSpPr>
        <p:spPr>
          <a:xfrm>
            <a:off x="5468112" y="3310128"/>
            <a:ext cx="146304" cy="146304"/>
          </a:xfrm>
          <a:prstGeom prst="ellipse">
            <a:avLst/>
          </a:prstGeom>
          <a:solidFill>
            <a:srgbClr val="F34B7D"/>
          </a:solidFill>
          <a:ln w="12700">
            <a:solidFill>
              <a:srgbClr val="F34B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Shape 40"/>
          <p:cNvSpPr/>
          <p:nvPr/>
        </p:nvSpPr>
        <p:spPr>
          <a:xfrm>
            <a:off x="5696712" y="3310128"/>
            <a:ext cx="146304" cy="146304"/>
          </a:xfrm>
          <a:prstGeom prst="ellipse">
            <a:avLst/>
          </a:prstGeom>
          <a:solidFill>
            <a:srgbClr val="F34B7D"/>
          </a:solidFill>
          <a:ln w="12700">
            <a:solidFill>
              <a:srgbClr val="F34B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3" name="Shape 41"/>
          <p:cNvSpPr/>
          <p:nvPr/>
        </p:nvSpPr>
        <p:spPr>
          <a:xfrm>
            <a:off x="5925312" y="3310128"/>
            <a:ext cx="146304" cy="146304"/>
          </a:xfrm>
          <a:prstGeom prst="ellipse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6263640" y="325526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4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892040" y="3712464"/>
            <a:ext cx="3840480" cy="493776"/>
          </a:xfrm>
          <a:prstGeom prst="rect">
            <a:avLst/>
          </a:prstGeom>
          <a:solidFill>
            <a:srgbClr val="1C2129"/>
          </a:solidFill>
          <a:ln w="12700">
            <a:solidFill>
              <a:srgbClr val="DEA58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6" name="Shape 44"/>
          <p:cNvSpPr/>
          <p:nvPr/>
        </p:nvSpPr>
        <p:spPr>
          <a:xfrm>
            <a:off x="5010912" y="3877056"/>
            <a:ext cx="146304" cy="146304"/>
          </a:xfrm>
          <a:prstGeom prst="ellipse">
            <a:avLst/>
          </a:prstGeom>
          <a:solidFill>
            <a:srgbClr val="DEA584"/>
          </a:solidFill>
          <a:ln w="12700">
            <a:solidFill>
              <a:srgbClr val="DEA58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7" name="Shape 45"/>
          <p:cNvSpPr/>
          <p:nvPr/>
        </p:nvSpPr>
        <p:spPr>
          <a:xfrm>
            <a:off x="5239512" y="3877056"/>
            <a:ext cx="146304" cy="146304"/>
          </a:xfrm>
          <a:prstGeom prst="ellipse">
            <a:avLst/>
          </a:prstGeom>
          <a:solidFill>
            <a:srgbClr val="DEA584"/>
          </a:solidFill>
          <a:ln w="12700">
            <a:solidFill>
              <a:srgbClr val="DEA58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8" name="Shape 46"/>
          <p:cNvSpPr/>
          <p:nvPr/>
        </p:nvSpPr>
        <p:spPr>
          <a:xfrm>
            <a:off x="5468112" y="3877056"/>
            <a:ext cx="146304" cy="146304"/>
          </a:xfrm>
          <a:prstGeom prst="ellipse">
            <a:avLst/>
          </a:prstGeom>
          <a:solidFill>
            <a:srgbClr val="DEA584"/>
          </a:solidFill>
          <a:ln w="12700">
            <a:solidFill>
              <a:srgbClr val="DEA58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9" name="Shape 47"/>
          <p:cNvSpPr/>
          <p:nvPr/>
        </p:nvSpPr>
        <p:spPr>
          <a:xfrm>
            <a:off x="5696712" y="3877056"/>
            <a:ext cx="146304" cy="146304"/>
          </a:xfrm>
          <a:prstGeom prst="ellipse">
            <a:avLst/>
          </a:prstGeom>
          <a:solidFill>
            <a:srgbClr val="DEA584"/>
          </a:solidFill>
          <a:ln w="12700">
            <a:solidFill>
              <a:srgbClr val="DEA58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0" name="Shape 48"/>
          <p:cNvSpPr/>
          <p:nvPr/>
        </p:nvSpPr>
        <p:spPr>
          <a:xfrm>
            <a:off x="5925312" y="3877056"/>
            <a:ext cx="146304" cy="146304"/>
          </a:xfrm>
          <a:prstGeom prst="ellipse">
            <a:avLst/>
          </a:prstGeom>
          <a:solidFill>
            <a:srgbClr val="DEA584"/>
          </a:solidFill>
          <a:ln w="12700">
            <a:solidFill>
              <a:srgbClr val="DEA58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1" name="Text 49"/>
          <p:cNvSpPr/>
          <p:nvPr/>
        </p:nvSpPr>
        <p:spPr>
          <a:xfrm>
            <a:off x="6263640" y="38221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E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892040" y="4315968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3" name="Shape 51"/>
          <p:cNvSpPr/>
          <p:nvPr/>
        </p:nvSpPr>
        <p:spPr>
          <a:xfrm>
            <a:off x="4892040" y="4315968"/>
            <a:ext cx="45720" cy="548640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4" name="Text 52"/>
          <p:cNvSpPr/>
          <p:nvPr/>
        </p:nvSpPr>
        <p:spPr>
          <a:xfrm>
            <a:off x="5010912" y="43525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var(--c)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010912" y="459028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HTML-де style='--c:#e34c26' деп беріледі — тілдің өз түсі d-dot-қа береді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892040" y="4626864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7" name="Shape 55"/>
          <p:cNvSpPr/>
          <p:nvPr/>
        </p:nvSpPr>
        <p:spPr>
          <a:xfrm>
            <a:off x="4892040" y="4626864"/>
            <a:ext cx="45720" cy="54864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8" name="Text 56"/>
          <p:cNvSpPr/>
          <p:nvPr/>
        </p:nvSpPr>
        <p:spPr>
          <a:xfrm>
            <a:off x="5010912" y="46634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auto-fill + minmax(240px)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010912" y="490118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Карточкалар өздігінен орналасады — экран кеңдігіне сәйкес баған саны өзгереді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JAVASCRIPT — ТІЛ АУЫСТЫРУ ЖҮЙЕСІ (EN/RU/KZ)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950976"/>
            <a:ext cx="8321040" cy="4114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4251960" cy="3730752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4251960" cy="246888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21208" y="108813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85800" y="108813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0392" y="108813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39496" y="1325880"/>
            <a:ext cx="402336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Аударма объектісі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 =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en: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nav_about: 'About',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hero_title: 'Cody Tech',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btn_start: 'Start Learning',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d_html: 'The skeleton...',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ru: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nav_about: 'О нас',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hero_title: 'Cody Tech',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kz: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nav_about: 'Біз туралы',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hero_title: 'Cody Tech',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setLang(l, btn)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lang = l;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tr = T[l] || {};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Барлық active алу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document.querySelectorAll(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'.ctrl-btn'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).forEach(b=&gt;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b.classList.remove('active'));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(btn) btn.classList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.add('active');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Мәтіндерді ауыстыру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document.querySelectorAll(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'[data-i]'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).forEach(el =&gt;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key=el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.getAttribute('data-i');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el.textContent = tr[key];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024128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892040" y="1024128"/>
            <a:ext cx="45720" cy="5486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010912" y="10607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 = { en:{}, ru:{}, kz:{} }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10912" y="129844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Үш тілдің аудармасы бір объектіде — кілт:мән жүйесімен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636776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4892040" y="1636776"/>
            <a:ext cx="45720" cy="54864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010912" y="16733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T[l] || {}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10912" y="191109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T['kz'] = kz объектісі. || {} — объект жоқ болса бос объект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2249424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4892040" y="2249424"/>
            <a:ext cx="45720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010912" y="22860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querySelectorAll('[data-i]')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10912" y="252374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 атрибуты бар барлық элементті табады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862072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892040" y="2862072"/>
            <a:ext cx="45720" cy="548640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010912" y="28986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getAttribute('data-i')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10912" y="313639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Элементтің data-i мәнін оқиды — мысалы 'nav_about'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3474720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4892040" y="3474720"/>
            <a:ext cx="45720" cy="5486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5010912" y="35112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el.textContent = tr[key]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10912" y="37490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tr['nav_about'] = 'Біз туралы' — элемент мәтіні ауысады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4087368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4892040" y="4087368"/>
            <a:ext cx="45720" cy="548640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5010912" y="41239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btn.classList.add('active')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10912" y="436168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Басылған тіл батырмасы белгіленеді — синді фон қосылады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JAVASCRIPT — АВТОРИЗАЦИЯ (localStorage)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950976"/>
            <a:ext cx="8321040" cy="411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4251960" cy="3730752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4251960" cy="246888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21208" y="108813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85800" y="108813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0392" y="108813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39496" y="1325880"/>
            <a:ext cx="402336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Тіркелу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doRegister()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 = getId('ru').value;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 = getId('rp').value;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Деректерді сақтау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localStorage.setItem(u, p);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localStorage.setItem(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'cody_user', u);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Кіру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doLogin()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 = getId('lu').value;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 = getId('lp').value;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saved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localStorage.getItem(u);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(saved === p)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localStorage.setItem(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'cody_user', u);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index.html-ге өту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showMsg('loginMsg',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T[lang].err_creds, 'err');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Auth тексеру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checkAuth()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localStorage.getItem(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'cody_user');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(user)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loginLink.style.display='none';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avatarWrap.style.display='block';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avatarCircle.textContent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getInitials(user);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92040" y="1024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 ағымы: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92040" y="1417320"/>
            <a:ext cx="3840480" cy="420624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4892040" y="1490472"/>
            <a:ext cx="256032" cy="256032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4892040" y="14996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93792" y="1490472"/>
            <a:ext cx="3447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Пайдаланушы форм толтырады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92040" y="1899209"/>
            <a:ext cx="3840480" cy="420624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4892040" y="1972361"/>
            <a:ext cx="256032" cy="256032"/>
          </a:xfrm>
          <a:prstGeom prst="ellipse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4892040" y="1981505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93792" y="1972361"/>
            <a:ext cx="3447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doRegister(): localStorage.setItem(u, p)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92040" y="2381098"/>
            <a:ext cx="3840480" cy="420624"/>
          </a:xfrm>
          <a:prstGeom prst="rect">
            <a:avLst/>
          </a:prstGeom>
          <a:solidFill>
            <a:srgbClr val="1C2129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4892040" y="2454250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4892040" y="246339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93792" y="2454250"/>
            <a:ext cx="3447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cody_user кілтіне аты сақталады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92040" y="2862986"/>
            <a:ext cx="3840480" cy="420624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4892040" y="2936138"/>
            <a:ext cx="256032" cy="256032"/>
          </a:xfrm>
          <a:prstGeom prst="ellipse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4892040" y="294528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93792" y="2936138"/>
            <a:ext cx="3447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doLogin(): getItem(u) === p тексереді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92040" y="3344875"/>
            <a:ext cx="3840480" cy="420624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Shape 26"/>
          <p:cNvSpPr/>
          <p:nvPr/>
        </p:nvSpPr>
        <p:spPr>
          <a:xfrm>
            <a:off x="4892040" y="3418027"/>
            <a:ext cx="256032" cy="256032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4892040" y="3427171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93792" y="3418027"/>
            <a:ext cx="3447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checkAuth(): cody_user бар ма?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92040" y="3826764"/>
            <a:ext cx="3840480" cy="420624"/>
          </a:xfrm>
          <a:prstGeom prst="rect">
            <a:avLst/>
          </a:prstGeom>
          <a:solidFill>
            <a:srgbClr val="1C2129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Shape 30"/>
          <p:cNvSpPr/>
          <p:nvPr/>
        </p:nvSpPr>
        <p:spPr>
          <a:xfrm>
            <a:off x="4892040" y="3899916"/>
            <a:ext cx="256032" cy="256032"/>
          </a:xfrm>
          <a:prstGeom prst="ellipse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4892040" y="39090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93792" y="3899916"/>
            <a:ext cx="3447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көрсетіледі, Login жасырылады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92040" y="4308653"/>
            <a:ext cx="3840480" cy="420624"/>
          </a:xfrm>
          <a:prstGeom prst="rect">
            <a:avLst/>
          </a:prstGeom>
          <a:solidFill>
            <a:srgbClr val="1C2129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Shape 34"/>
          <p:cNvSpPr/>
          <p:nvPr/>
        </p:nvSpPr>
        <p:spPr>
          <a:xfrm>
            <a:off x="4892040" y="4381805"/>
            <a:ext cx="256032" cy="256032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Text 35"/>
          <p:cNvSpPr/>
          <p:nvPr/>
        </p:nvSpPr>
        <p:spPr>
          <a:xfrm>
            <a:off x="4892040" y="4390949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93792" y="4381805"/>
            <a:ext cx="3447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doLogout(): removeItem('cody_user')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JAVASCRIPT — SCROLL ЭФФЕКТІЛЕРІ + BURGER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950976"/>
            <a:ext cx="8321040" cy="41148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4251960" cy="3730752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4251960" cy="246888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21208" y="108813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85800" y="108813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0392" y="108813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39496" y="1325880"/>
            <a:ext cx="402336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Navbar scroll-да қараяды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window.addEventListener('scroll',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nav = document.querySelector(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'.navbar, .top-bar');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(!nav) return;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(window.scrollY &gt; 50)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nav.style.background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'rgba(0,0,0,0.95)';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nav.style.background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'rgba(0,0,0,0.8)';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Burger toggle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toggleBurger()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document.querySelector(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'.navbar ul')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.classList.toggle('nav-open');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document.querySelector(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'.nav-controls')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.classList.toggle('nav-open');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'burgerBtn')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.classList.toggle('active');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Scroll анимация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observer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IntersectionObserver(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entries =&gt;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(entry.isIntersecting)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entry.target.style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.opacity = 1;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entry.target.style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.transform='translateY(0)';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024128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892040" y="1024128"/>
            <a:ext cx="45720" cy="548640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010912" y="10607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'.navbar, .top-bar'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10912" y="129844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список — бір querySelector-да екі элементті іздейді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560881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4892040" y="1560881"/>
            <a:ext cx="45720" cy="54864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010912" y="1597457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window.scrollY &gt; 50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10912" y="1835201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50px айналдырса navbar қоюланады — 0.8 → 0.95 opacity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2097634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4892040" y="2097634"/>
            <a:ext cx="45720" cy="5486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010912" y="213421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classList.toggle('nav-open')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10912" y="237195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nav-open класы болса алады, болмаса қосады — меню ашылады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634386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892040" y="2634386"/>
            <a:ext cx="45720" cy="5486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010912" y="267096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classList.toggle('active')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10912" y="290870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Burger-ге active — 3 сызық CSS арқылы X-ке айналады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3171139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4892040" y="3171139"/>
            <a:ext cx="45720" cy="548640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5010912" y="3207715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9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IntersectionObserver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10912" y="3445459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Элемент экранға кіргенде хабар береді — заманауи API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3707892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4892040" y="3707892"/>
            <a:ext cx="45720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5010912" y="37444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entry.isIntersecting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10912" y="398221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болса — элемент экранда. Анимацияны іске қосамыз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4244645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4892040" y="4244645"/>
            <a:ext cx="45720" cy="548640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5010912" y="4281221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opacity:0 → 1 + translateY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10912" y="4518965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Бөлімдер төменнен сырғып, біртіндеп пайда болады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JAVASCRIPT — FILTER + SIDEBAR SCROLL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950976"/>
            <a:ext cx="8321040" cy="41148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4251960" cy="3730752"/>
          </a:xfrm>
          <a:prstGeom prst="rect">
            <a:avLst/>
          </a:prstGeom>
          <a:solidFill>
            <a:srgbClr val="0A0E14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4251960" cy="246888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21208" y="108813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85800" y="108813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50392" y="108813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39496" y="1325880"/>
            <a:ext cx="402336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Санат сүзгісі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doFilter(cat, btn)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document.querySelectorAll(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'.filter-btn'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).forEach(b =&gt;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b.classList.remove('active'));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btn.classList.add('active');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document.querySelectorAll(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'.ref-card'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).forEach(c =&gt;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c.classList.toggle('hidden',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cat !== 'all' &amp;&amp;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!c.dataset.cat.includes(cat)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Sidebar scroll tracking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secs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document.querySelectorAll(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'.learn-section');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links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document.querySelectorAll(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'.sidebar-link');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window.addEventListener('scroll',()=&gt;{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cur = '';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secs.forEach(s =&gt;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if(scrollY &gt;= s.offsetTop - 120)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cur = s.id;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links.forEach(l =&gt;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l.classList.toggle('active',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l.href.endsWith('#'+cur)));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024128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892040" y="1024128"/>
            <a:ext cx="45720" cy="5486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010912" y="10607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classList.remove('active') all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10912" y="129844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Барлық filter батырмасынан active алынады, тек басылғанға қосылады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636776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4892040" y="1636776"/>
            <a:ext cx="45720" cy="54864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010912" y="16733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c.dataset.cat.includes(cat)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10912" y="191109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data-cat='web backend' — includes('web') → true. Сүзгі дұрыс жұмыс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2249424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4892040" y="2249424"/>
            <a:ext cx="45720" cy="5486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010912" y="22860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classList.toggle('hidden',...)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10912" y="252374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toggle(class, шарт) — шарт true болса .hidden қосылады = display:none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862072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892040" y="2862072"/>
            <a:ext cx="45720" cy="548640"/>
          </a:xfrm>
          <a:prstGeom prst="rect">
            <a:avLst/>
          </a:prstGeom>
          <a:solidFill>
            <a:srgbClr val="3DC97A"/>
          </a:solidFill>
          <a:ln w="12700">
            <a:solidFill>
              <a:srgbClr val="3DC9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010912" y="28986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s.offsetTop - 120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10912" y="313639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120px offset — navbar биіктігін есептеп, дұрыс бөлімді анықтайды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3474720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4892040" y="3474720"/>
            <a:ext cx="45720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5010912" y="35112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 = s.id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10912" y="37490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Ағымдағы бөлімнің id-і сақталады — мысалы 'syntax', 'datatypes'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4087368"/>
            <a:ext cx="384048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4892040" y="4087368"/>
            <a:ext cx="45720" cy="5486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5010912" y="41239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l.href.endsWith('#'+cur)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10912" y="436168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сілтемесі ағымдағы бөлімге сәйкес болса active болады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ТОЛЫК ШОЛУ — ТЕХНОЛОГИЯЛАР МЕН МҮМКІНДІКТЕР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950976"/>
            <a:ext cx="832104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210312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14600" y="1078992"/>
            <a:ext cx="292608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2606040" y="114300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қолданылды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40680" y="1078992"/>
            <a:ext cx="274320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532120" y="1143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үшін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463040"/>
            <a:ext cx="2103120" cy="347472"/>
          </a:xfrm>
          <a:prstGeom prst="rect">
            <a:avLst/>
          </a:prstGeom>
          <a:solidFill>
            <a:srgbClr val="1C2129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502920" y="15087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1463040"/>
            <a:ext cx="2926080" cy="347472"/>
          </a:xfrm>
          <a:prstGeom prst="rect">
            <a:avLst/>
          </a:prstGeom>
          <a:solidFill>
            <a:srgbClr val="1C2129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2606040" y="150876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теглер, data-i атрибуттар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40680" y="1463040"/>
            <a:ext cx="2743200" cy="347472"/>
          </a:xfrm>
          <a:prstGeom prst="rect">
            <a:avLst/>
          </a:prstGeom>
          <a:solidFill>
            <a:srgbClr val="1C2129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5532120" y="15087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Құрылым + аударма жүйесі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1842516"/>
            <a:ext cx="21031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502920" y="1888236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Flexbox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14600" y="1842516"/>
            <a:ext cx="292608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2606040" y="1888236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navbar, hero, cards, form layout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40680" y="1842516"/>
            <a:ext cx="27432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5532120" y="188823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Элементтерді тік/көлденең тізу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2221992"/>
            <a:ext cx="2103120" cy="347472"/>
          </a:xfrm>
          <a:prstGeom prst="rect">
            <a:avLst/>
          </a:prstGeom>
          <a:solidFill>
            <a:srgbClr val="1C2129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502920" y="226771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14600" y="2221992"/>
            <a:ext cx="2926080" cy="347472"/>
          </a:xfrm>
          <a:prstGeom prst="rect">
            <a:avLst/>
          </a:prstGeom>
          <a:solidFill>
            <a:srgbClr val="1C2129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2606040" y="226771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lang-grid, page-wrap (sidebar+main)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40680" y="2221992"/>
            <a:ext cx="2743200" cy="347472"/>
          </a:xfrm>
          <a:prstGeom prst="rect">
            <a:avLst/>
          </a:prstGeom>
          <a:solidFill>
            <a:srgbClr val="1C2129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5532120" y="226771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карточка және бет макеті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2601468"/>
            <a:ext cx="21031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502920" y="264718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14600" y="2601468"/>
            <a:ext cx="292608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2606040" y="264718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--c тілдің брендтік түсі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40680" y="2601468"/>
            <a:ext cx="27432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5532120" y="264718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d-dot, learn-btn-ге тіл түсі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" y="2980944"/>
            <a:ext cx="2103120" cy="347472"/>
          </a:xfrm>
          <a:prstGeom prst="rect">
            <a:avLst/>
          </a:prstGeom>
          <a:solidFill>
            <a:srgbClr val="1C2129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/>
          <p:nvPr/>
        </p:nvSpPr>
        <p:spPr>
          <a:xfrm>
            <a:off x="502920" y="302666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@media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14600" y="2980944"/>
            <a:ext cx="2926080" cy="347472"/>
          </a:xfrm>
          <a:prstGeom prst="rect">
            <a:avLst/>
          </a:prstGeom>
          <a:solidFill>
            <a:srgbClr val="1C2129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Text 35"/>
          <p:cNvSpPr/>
          <p:nvPr/>
        </p:nvSpPr>
        <p:spPr>
          <a:xfrm>
            <a:off x="2606040" y="3026664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768px, 480px breakpoints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40680" y="2980944"/>
            <a:ext cx="2743200" cy="347472"/>
          </a:xfrm>
          <a:prstGeom prst="rect">
            <a:avLst/>
          </a:prstGeom>
          <a:solidFill>
            <a:srgbClr val="1C2129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Text 37"/>
          <p:cNvSpPr/>
          <p:nvPr/>
        </p:nvSpPr>
        <p:spPr>
          <a:xfrm>
            <a:off x="5532120" y="302666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— телефон/планшет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3360420"/>
            <a:ext cx="21031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1" name="Text 39"/>
          <p:cNvSpPr/>
          <p:nvPr/>
        </p:nvSpPr>
        <p:spPr>
          <a:xfrm>
            <a:off x="502920" y="340614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Transition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514600" y="3360420"/>
            <a:ext cx="292608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3" name="Text 41"/>
          <p:cNvSpPr/>
          <p:nvPr/>
        </p:nvSpPr>
        <p:spPr>
          <a:xfrm>
            <a:off x="2606040" y="340614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эффектілер, burger X анимация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40680" y="3360420"/>
            <a:ext cx="27432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5" name="Text 43"/>
          <p:cNvSpPr/>
          <p:nvPr/>
        </p:nvSpPr>
        <p:spPr>
          <a:xfrm>
            <a:off x="5532120" y="340614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Тегіс визуалды өзгерістер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11480" y="3739896"/>
            <a:ext cx="2103120" cy="347472"/>
          </a:xfrm>
          <a:prstGeom prst="rect">
            <a:avLst/>
          </a:prstGeom>
          <a:solidFill>
            <a:srgbClr val="1C2129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7" name="Text 45"/>
          <p:cNvSpPr/>
          <p:nvPr/>
        </p:nvSpPr>
        <p:spPr>
          <a:xfrm>
            <a:off x="502920" y="3785616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localStorage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514600" y="3739896"/>
            <a:ext cx="2926080" cy="347472"/>
          </a:xfrm>
          <a:prstGeom prst="rect">
            <a:avLst/>
          </a:prstGeom>
          <a:solidFill>
            <a:srgbClr val="1C2129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9" name="Text 47"/>
          <p:cNvSpPr/>
          <p:nvPr/>
        </p:nvSpPr>
        <p:spPr>
          <a:xfrm>
            <a:off x="2606040" y="3785616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setItem/getItem/removeItem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440680" y="3739896"/>
            <a:ext cx="2743200" cy="347472"/>
          </a:xfrm>
          <a:prstGeom prst="rect">
            <a:avLst/>
          </a:prstGeom>
          <a:solidFill>
            <a:srgbClr val="1C2129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1" name="Text 49"/>
          <p:cNvSpPr/>
          <p:nvPr/>
        </p:nvSpPr>
        <p:spPr>
          <a:xfrm>
            <a:off x="5532120" y="378561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Тіркелу, кіру, шығу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11480" y="4119372"/>
            <a:ext cx="21031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3" name="Text 51"/>
          <p:cNvSpPr/>
          <p:nvPr/>
        </p:nvSpPr>
        <p:spPr>
          <a:xfrm>
            <a:off x="502920" y="41650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classList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514600" y="4119372"/>
            <a:ext cx="292608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5" name="Text 53"/>
          <p:cNvSpPr/>
          <p:nvPr/>
        </p:nvSpPr>
        <p:spPr>
          <a:xfrm>
            <a:off x="2606040" y="416509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toggle, add, remove — тема, burger, tab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440680" y="4119372"/>
            <a:ext cx="27432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7" name="Text 55"/>
          <p:cNvSpPr/>
          <p:nvPr/>
        </p:nvSpPr>
        <p:spPr>
          <a:xfrm>
            <a:off x="5532120" y="416509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класын динамикалық басқару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11480" y="4498848"/>
            <a:ext cx="2103120" cy="347472"/>
          </a:xfrm>
          <a:prstGeom prst="rect">
            <a:avLst/>
          </a:prstGeom>
          <a:solidFill>
            <a:srgbClr val="1C2129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9" name="Text 57"/>
          <p:cNvSpPr/>
          <p:nvPr/>
        </p:nvSpPr>
        <p:spPr>
          <a:xfrm>
            <a:off x="502920" y="454456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querySelectorAll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514600" y="4498848"/>
            <a:ext cx="2926080" cy="347472"/>
          </a:xfrm>
          <a:prstGeom prst="rect">
            <a:avLst/>
          </a:prstGeom>
          <a:solidFill>
            <a:srgbClr val="1C2129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1" name="Text 59"/>
          <p:cNvSpPr/>
          <p:nvPr/>
        </p:nvSpPr>
        <p:spPr>
          <a:xfrm>
            <a:off x="2606040" y="454456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data-i, .ref-card, .sidebar-link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440680" y="4498848"/>
            <a:ext cx="2743200" cy="347472"/>
          </a:xfrm>
          <a:prstGeom prst="rect">
            <a:avLst/>
          </a:prstGeom>
          <a:solidFill>
            <a:srgbClr val="1C2129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3" name="Text 61"/>
          <p:cNvSpPr/>
          <p:nvPr/>
        </p:nvSpPr>
        <p:spPr>
          <a:xfrm>
            <a:off x="5532120" y="45445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элементтерін іздеу+өзгерту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11480" y="4878324"/>
            <a:ext cx="21031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5" name="Text 63"/>
          <p:cNvSpPr/>
          <p:nvPr/>
        </p:nvSpPr>
        <p:spPr>
          <a:xfrm>
            <a:off x="502920" y="492404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514600" y="4878324"/>
            <a:ext cx="292608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7" name="Text 65"/>
          <p:cNvSpPr/>
          <p:nvPr/>
        </p:nvSpPr>
        <p:spPr>
          <a:xfrm>
            <a:off x="2606040" y="4924044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learn-section scroll анимация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440680" y="4878324"/>
            <a:ext cx="27432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9" name="Text 67"/>
          <p:cNvSpPr/>
          <p:nvPr/>
        </p:nvSpPr>
        <p:spPr>
          <a:xfrm>
            <a:off x="5532120" y="492404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Бөлімдер пайда болу эффекті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11480" y="5257800"/>
            <a:ext cx="2103120" cy="347472"/>
          </a:xfrm>
          <a:prstGeom prst="rect">
            <a:avLst/>
          </a:prstGeom>
          <a:solidFill>
            <a:srgbClr val="1C2129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1" name="Text 69"/>
          <p:cNvSpPr/>
          <p:nvPr/>
        </p:nvSpPr>
        <p:spPr>
          <a:xfrm>
            <a:off x="502920" y="53035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scroll event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514600" y="5257800"/>
            <a:ext cx="2926080" cy="347472"/>
          </a:xfrm>
          <a:prstGeom prst="rect">
            <a:avLst/>
          </a:prstGeom>
          <a:solidFill>
            <a:srgbClr val="1C2129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3" name="Text 71"/>
          <p:cNvSpPr/>
          <p:nvPr/>
        </p:nvSpPr>
        <p:spPr>
          <a:xfrm>
            <a:off x="2606040" y="530352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opacity, sidebar tracking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440680" y="5257800"/>
            <a:ext cx="2743200" cy="347472"/>
          </a:xfrm>
          <a:prstGeom prst="rect">
            <a:avLst/>
          </a:prstGeom>
          <a:solidFill>
            <a:srgbClr val="1C2129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5" name="Text 73"/>
          <p:cNvSpPr/>
          <p:nvPr/>
        </p:nvSpPr>
        <p:spPr>
          <a:xfrm>
            <a:off x="5532120" y="530352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Айналдырғанда UI жаңарту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4114800" cy="4114800"/>
          </a:xfrm>
          <a:prstGeom prst="ellipse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79C0FF">
              <a:alpha val="12000"/>
            </a:srgbClr>
          </a:solidFill>
          <a:ln w="12700">
            <a:solidFill>
              <a:srgbClr val="79C0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CODY TECH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Толық технологиялық сипаттама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2606040" cy="2148840"/>
          </a:xfrm>
          <a:prstGeom prst="rect">
            <a:avLst/>
          </a:prstGeom>
          <a:solidFill>
            <a:srgbClr val="1C2129"/>
          </a:solidFill>
          <a:ln w="1905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594360" y="2331720"/>
            <a:ext cx="260604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88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HTML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index, login, learning, learn/*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31012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data-i, data-cat, semantic теглер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69417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Navbar, hero, section, footer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331720"/>
            <a:ext cx="2606040" cy="2148840"/>
          </a:xfrm>
          <a:prstGeom prst="rect">
            <a:avLst/>
          </a:prstGeom>
          <a:solidFill>
            <a:srgbClr val="1C2129"/>
          </a:solidFill>
          <a:ln w="19050">
            <a:solidFill>
              <a:srgbClr val="79C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3383280" y="2331720"/>
            <a:ext cx="2606040" cy="54864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3520440" y="242316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9C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20440" y="29260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Dark/Light тема body.light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331012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Flexbox + Grid макет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369417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Hover, transition, @media 768/480px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2331720"/>
            <a:ext cx="2606040" cy="2148840"/>
          </a:xfrm>
          <a:prstGeom prst="rect">
            <a:avLst/>
          </a:prstGeom>
          <a:solidFill>
            <a:srgbClr val="1C2129"/>
          </a:solidFill>
          <a:ln w="19050">
            <a:solidFill>
              <a:srgbClr val="F7DF1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6172200" y="2331720"/>
            <a:ext cx="2606040" cy="54864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6309360" y="242316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JavaScript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09360" y="29260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localStorage авторизация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31012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setLang EN/RU/KZ тіл жүйесі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369417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Burger, scroll, IntersectionObserver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0" y="4773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Cody Tech — Барлық құқықтар қорғалған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3934</Words>
  <Application>Microsoft Office PowerPoint</Application>
  <PresentationFormat>Экран (16:9)</PresentationFormat>
  <Paragraphs>710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Arial Black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Zhanuzak Baltash</cp:lastModifiedBy>
  <cp:revision>2</cp:revision>
  <dcterms:created xsi:type="dcterms:W3CDTF">2026-04-19T17:12:10Z</dcterms:created>
  <dcterms:modified xsi:type="dcterms:W3CDTF">2026-04-19T17:55:07Z</dcterms:modified>
</cp:coreProperties>
</file>