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233893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914400"/>
            <a:ext cx="4114800" cy="4114800"/>
          </a:xfrm>
          <a:prstGeom prst="ellipse">
            <a:avLst/>
          </a:prstGeom>
          <a:solidFill>
            <a:srgbClr val="00C9A7">
              <a:alpha val="14000"/>
            </a:srgbClr>
          </a:solidFill>
          <a:ln w="12700">
            <a:solidFill>
              <a:srgbClr val="00C9A7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-914400" y="2926080"/>
            <a:ext cx="3474720" cy="3474720"/>
          </a:xfrm>
          <a:prstGeom prst="ellipse">
            <a:avLst/>
          </a:prstGeom>
          <a:solidFill>
            <a:srgbClr val="79C0FF">
              <a:alpha val="12000"/>
            </a:srgbClr>
          </a:solidFill>
          <a:ln w="12700">
            <a:solidFill>
              <a:srgbClr val="79C0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7772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kern="0" spc="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CODY TECH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640080" y="192024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Сайт қалай жасалды?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1828800" cy="5029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7" name="Text 5"/>
          <p:cNvSpPr/>
          <p:nvPr/>
        </p:nvSpPr>
        <p:spPr>
          <a:xfrm>
            <a:off x="640080" y="2788920"/>
            <a:ext cx="7315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• CSS • JavaScript — кодтар мен түсіндірмелер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3337560"/>
            <a:ext cx="1920240" cy="841248"/>
          </a:xfrm>
          <a:prstGeom prst="rect">
            <a:avLst/>
          </a:prstGeom>
          <a:solidFill>
            <a:srgbClr val="1C2129"/>
          </a:solidFill>
          <a:ln w="12700">
            <a:solidFill>
              <a:srgbClr val="79C0FF"/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9" name="Text 7"/>
          <p:cNvSpPr/>
          <p:nvPr/>
        </p:nvSpPr>
        <p:spPr>
          <a:xfrm>
            <a:off x="731520" y="3364992"/>
            <a:ext cx="1737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79C0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18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31520" y="374904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бет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61488" y="3337560"/>
            <a:ext cx="1920240" cy="841248"/>
          </a:xfrm>
          <a:prstGeom prst="rect">
            <a:avLst/>
          </a:prstGeom>
          <a:solidFill>
            <a:srgbClr val="1C2129"/>
          </a:solidFill>
          <a:ln w="12700">
            <a:solidFill>
              <a:srgbClr val="F7DF1E"/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2" name="Text 10"/>
          <p:cNvSpPr/>
          <p:nvPr/>
        </p:nvSpPr>
        <p:spPr>
          <a:xfrm>
            <a:off x="2852928" y="3364992"/>
            <a:ext cx="1737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7DF1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852928" y="374904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 файл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882896" y="3337560"/>
            <a:ext cx="1920240" cy="841248"/>
          </a:xfrm>
          <a:prstGeom prst="rect">
            <a:avLst/>
          </a:prstGeom>
          <a:solidFill>
            <a:srgbClr val="1C2129"/>
          </a:solidFill>
          <a:ln w="12700">
            <a:solidFill>
              <a:srgbClr val="00C9A7"/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5" name="Text 13"/>
          <p:cNvSpPr/>
          <p:nvPr/>
        </p:nvSpPr>
        <p:spPr>
          <a:xfrm>
            <a:off x="4974336" y="3364992"/>
            <a:ext cx="1737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C9A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974336" y="374904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файл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0080" y="475488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Cody Tech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kern="0" spc="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📁  ЖОБА ФАЙЛ ҚҰРЫЛЫМЫ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11480" y="914400"/>
            <a:ext cx="8321040" cy="4114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" name="Shape 2"/>
          <p:cNvSpPr/>
          <p:nvPr/>
        </p:nvSpPr>
        <p:spPr>
          <a:xfrm>
            <a:off x="411480" y="1005840"/>
            <a:ext cx="3474720" cy="3749040"/>
          </a:xfrm>
          <a:prstGeom prst="rect">
            <a:avLst/>
          </a:prstGeom>
          <a:solidFill>
            <a:srgbClr val="0A0E14"/>
          </a:solidFill>
          <a:ln w="12700">
            <a:solidFill>
              <a:srgbClr val="00A896"/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5" name="Shape 3"/>
          <p:cNvSpPr/>
          <p:nvPr/>
        </p:nvSpPr>
        <p:spPr>
          <a:xfrm>
            <a:off x="411480" y="1005840"/>
            <a:ext cx="3474720" cy="256032"/>
          </a:xfrm>
          <a:prstGeom prst="rect">
            <a:avLst/>
          </a:prstGeom>
          <a:solidFill>
            <a:srgbClr val="1A2030"/>
          </a:solidFill>
          <a:ln w="12700">
            <a:solidFill>
              <a:srgbClr val="1A203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6" name="Shape 4"/>
          <p:cNvSpPr/>
          <p:nvPr/>
        </p:nvSpPr>
        <p:spPr>
          <a:xfrm>
            <a:off x="530352" y="1069848"/>
            <a:ext cx="118872" cy="118872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7" name="Shape 5"/>
          <p:cNvSpPr/>
          <p:nvPr/>
        </p:nvSpPr>
        <p:spPr>
          <a:xfrm>
            <a:off x="694944" y="1069848"/>
            <a:ext cx="118872" cy="118872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8" name="Shape 6"/>
          <p:cNvSpPr/>
          <p:nvPr/>
        </p:nvSpPr>
        <p:spPr>
          <a:xfrm>
            <a:off x="859536" y="1069848"/>
            <a:ext cx="118872" cy="118872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9" name="Text 7"/>
          <p:cNvSpPr/>
          <p:nvPr/>
        </p:nvSpPr>
        <p:spPr>
          <a:xfrm>
            <a:off x="548640" y="1316736"/>
            <a:ext cx="3218688" cy="33467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0C9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cody-tech/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index.html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login.html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download.html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learn-html.html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learn-css.html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learn-js.html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learn-python.html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learn-java.html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learn-php.html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learn-rust.html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learn-kotlin.html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learn-swift.html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learn-sql.html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learn-c++.html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learn-typescript.html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DC9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style.css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DC9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styles.css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088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script.js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160520" y="1005840"/>
            <a:ext cx="4572000" cy="530352"/>
          </a:xfrm>
          <a:prstGeom prst="rect">
            <a:avLst/>
          </a:prstGeom>
          <a:solidFill>
            <a:srgbClr val="1C2129"/>
          </a:solidFill>
          <a:ln w="12700">
            <a:solidFill>
              <a:srgbClr val="F7DF1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1" name="Shape 9"/>
          <p:cNvSpPr/>
          <p:nvPr/>
        </p:nvSpPr>
        <p:spPr>
          <a:xfrm>
            <a:off x="4160520" y="1005840"/>
            <a:ext cx="54864" cy="530352"/>
          </a:xfrm>
          <a:prstGeom prst="rect">
            <a:avLst/>
          </a:prstGeom>
          <a:solidFill>
            <a:srgbClr val="F7DF1E"/>
          </a:solidFill>
          <a:ln w="12700">
            <a:solidFill>
              <a:srgbClr val="F7DF1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2" name="Text 10"/>
          <p:cNvSpPr/>
          <p:nvPr/>
        </p:nvSpPr>
        <p:spPr>
          <a:xfrm>
            <a:off x="4315968" y="1042416"/>
            <a:ext cx="4297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🏠 index.html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315968" y="1280160"/>
            <a:ext cx="4297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Басты бет — hero, about, features, CTA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160520" y="1609344"/>
            <a:ext cx="4572000" cy="530352"/>
          </a:xfrm>
          <a:prstGeom prst="rect">
            <a:avLst/>
          </a:prstGeom>
          <a:solidFill>
            <a:srgbClr val="1C2129"/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5" name="Shape 13"/>
          <p:cNvSpPr/>
          <p:nvPr/>
        </p:nvSpPr>
        <p:spPr>
          <a:xfrm>
            <a:off x="4160520" y="1609344"/>
            <a:ext cx="54864" cy="530352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6" name="Text 14"/>
          <p:cNvSpPr/>
          <p:nvPr/>
        </p:nvSpPr>
        <p:spPr>
          <a:xfrm>
            <a:off x="4315968" y="1645920"/>
            <a:ext cx="4297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🔐 login.html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315968" y="1883664"/>
            <a:ext cx="4297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Кіру/Тіркелу беті — tabs, форм, localStorage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160520" y="2212848"/>
            <a:ext cx="4572000" cy="530352"/>
          </a:xfrm>
          <a:prstGeom prst="rect">
            <a:avLst/>
          </a:prstGeom>
          <a:solidFill>
            <a:srgbClr val="1C2129"/>
          </a:solidFill>
          <a:ln w="12700">
            <a:solidFill>
              <a:srgbClr val="79C0FF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9" name="Shape 17"/>
          <p:cNvSpPr/>
          <p:nvPr/>
        </p:nvSpPr>
        <p:spPr>
          <a:xfrm>
            <a:off x="4160520" y="2212848"/>
            <a:ext cx="54864" cy="530352"/>
          </a:xfrm>
          <a:prstGeom prst="rect">
            <a:avLst/>
          </a:prstGeom>
          <a:solidFill>
            <a:srgbClr val="79C0FF"/>
          </a:solidFill>
          <a:ln w="12700">
            <a:solidFill>
              <a:srgbClr val="79C0FF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0" name="Text 18"/>
          <p:cNvSpPr/>
          <p:nvPr/>
        </p:nvSpPr>
        <p:spPr>
          <a:xfrm>
            <a:off x="4315968" y="2249424"/>
            <a:ext cx="4297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📚 download.html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315968" y="2487168"/>
            <a:ext cx="4297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Курстар каталогы — карточкалар, сүзгі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160520" y="2816352"/>
            <a:ext cx="4572000" cy="530352"/>
          </a:xfrm>
          <a:prstGeom prst="rect">
            <a:avLst/>
          </a:prstGeom>
          <a:solidFill>
            <a:srgbClr val="1C2129"/>
          </a:solidFill>
          <a:ln w="12700">
            <a:solidFill>
              <a:srgbClr val="A97BFF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3" name="Shape 21"/>
          <p:cNvSpPr/>
          <p:nvPr/>
        </p:nvSpPr>
        <p:spPr>
          <a:xfrm>
            <a:off x="4160520" y="2816352"/>
            <a:ext cx="54864" cy="530352"/>
          </a:xfrm>
          <a:prstGeom prst="rect">
            <a:avLst/>
          </a:prstGeom>
          <a:solidFill>
            <a:srgbClr val="A97BFF"/>
          </a:solidFill>
          <a:ln w="12700">
            <a:solidFill>
              <a:srgbClr val="A97BFF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4" name="Text 22"/>
          <p:cNvSpPr/>
          <p:nvPr/>
        </p:nvSpPr>
        <p:spPr>
          <a:xfrm>
            <a:off x="4315968" y="2852928"/>
            <a:ext cx="4297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97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📖 learn-*.html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315968" y="3090672"/>
            <a:ext cx="4297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тіл үшін жеке оқу беттері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160520" y="3419856"/>
            <a:ext cx="4572000" cy="530352"/>
          </a:xfrm>
          <a:prstGeom prst="rect">
            <a:avLst/>
          </a:prstGeom>
          <a:solidFill>
            <a:srgbClr val="1C2129"/>
          </a:solidFill>
          <a:ln w="12700">
            <a:solidFill>
              <a:srgbClr val="3DC97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7" name="Shape 25"/>
          <p:cNvSpPr/>
          <p:nvPr/>
        </p:nvSpPr>
        <p:spPr>
          <a:xfrm>
            <a:off x="4160520" y="3419856"/>
            <a:ext cx="54864" cy="530352"/>
          </a:xfrm>
          <a:prstGeom prst="rect">
            <a:avLst/>
          </a:prstGeom>
          <a:solidFill>
            <a:srgbClr val="3DC97A"/>
          </a:solidFill>
          <a:ln w="12700">
            <a:solidFill>
              <a:srgbClr val="3DC97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8" name="Text 26"/>
          <p:cNvSpPr/>
          <p:nvPr/>
        </p:nvSpPr>
        <p:spPr>
          <a:xfrm>
            <a:off x="4315968" y="3456432"/>
            <a:ext cx="4297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DC9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🎨 style.css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315968" y="3694176"/>
            <a:ext cx="4297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Негізгі стильдер — 1801 жол, dark/light тема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160520" y="4023360"/>
            <a:ext cx="4572000" cy="530352"/>
          </a:xfrm>
          <a:prstGeom prst="rect">
            <a:avLst/>
          </a:prstGeom>
          <a:solidFill>
            <a:srgbClr val="1C2129"/>
          </a:solidFill>
          <a:ln w="12700">
            <a:solidFill>
              <a:srgbClr val="F0883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1" name="Shape 29"/>
          <p:cNvSpPr/>
          <p:nvPr/>
        </p:nvSpPr>
        <p:spPr>
          <a:xfrm>
            <a:off x="4160520" y="4023360"/>
            <a:ext cx="54864" cy="530352"/>
          </a:xfrm>
          <a:prstGeom prst="rect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2" name="Text 30"/>
          <p:cNvSpPr/>
          <p:nvPr/>
        </p:nvSpPr>
        <p:spPr>
          <a:xfrm>
            <a:off x="4315968" y="4059936"/>
            <a:ext cx="4297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88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⚡ script.js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315968" y="4297680"/>
            <a:ext cx="4297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Барлық JS логика — 223 жол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kern="0" spc="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🌐  HTML — БЕТТІҢ СКЕЛЕТІ (index.html)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11480" y="914400"/>
            <a:ext cx="8321040" cy="41148"/>
          </a:xfrm>
          <a:prstGeom prst="rect">
            <a:avLst/>
          </a:prstGeom>
          <a:solidFill>
            <a:srgbClr val="F7DF1E"/>
          </a:solidFill>
          <a:ln w="12700">
            <a:solidFill>
              <a:srgbClr val="F7DF1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" name="Shape 2"/>
          <p:cNvSpPr/>
          <p:nvPr/>
        </p:nvSpPr>
        <p:spPr>
          <a:xfrm>
            <a:off x="411480" y="1005840"/>
            <a:ext cx="4114800" cy="3749040"/>
          </a:xfrm>
          <a:prstGeom prst="rect">
            <a:avLst/>
          </a:prstGeom>
          <a:solidFill>
            <a:srgbClr val="0A0E14"/>
          </a:solidFill>
          <a:ln w="12700">
            <a:solidFill>
              <a:srgbClr val="00A896"/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5" name="Shape 3"/>
          <p:cNvSpPr/>
          <p:nvPr/>
        </p:nvSpPr>
        <p:spPr>
          <a:xfrm>
            <a:off x="411480" y="1005840"/>
            <a:ext cx="4114800" cy="256032"/>
          </a:xfrm>
          <a:prstGeom prst="rect">
            <a:avLst/>
          </a:prstGeom>
          <a:solidFill>
            <a:srgbClr val="1A2030"/>
          </a:solidFill>
          <a:ln w="12700">
            <a:solidFill>
              <a:srgbClr val="1A203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6" name="Shape 4"/>
          <p:cNvSpPr/>
          <p:nvPr/>
        </p:nvSpPr>
        <p:spPr>
          <a:xfrm>
            <a:off x="530352" y="1069848"/>
            <a:ext cx="118872" cy="118872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7" name="Shape 5"/>
          <p:cNvSpPr/>
          <p:nvPr/>
        </p:nvSpPr>
        <p:spPr>
          <a:xfrm>
            <a:off x="694944" y="1069848"/>
            <a:ext cx="118872" cy="118872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8" name="Shape 6"/>
          <p:cNvSpPr/>
          <p:nvPr/>
        </p:nvSpPr>
        <p:spPr>
          <a:xfrm>
            <a:off x="859536" y="1069848"/>
            <a:ext cx="118872" cy="118872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9" name="Text 7"/>
          <p:cNvSpPr/>
          <p:nvPr/>
        </p:nvSpPr>
        <p:spPr>
          <a:xfrm>
            <a:off x="548640" y="1316736"/>
            <a:ext cx="3858768" cy="33467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&lt;!DOCTYPE html&gt;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&lt;html lang='en'&gt;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&lt;head&gt;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&lt;meta charset='UTF-8'&gt;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DC9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&lt;title&gt;Cody tech&lt;/title&gt;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&lt;link rel='stylesheet'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href='style.css'&gt;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&lt;/head&gt;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&lt;body&gt;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C9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&lt;nav class='navbar'&gt;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&lt;!-- Навигация --&gt;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C9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&lt;/nav&gt;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088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&lt;section class='hero'&gt;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&lt;h1&gt;Cody Tech&lt;/h1&gt;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088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&lt;/section&gt;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DC9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&lt;section id='about'&gt;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DC9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&lt;section id='features'&gt;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&lt;footer&gt;...&lt;/footer&gt;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088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&lt;script src='script.js'&gt;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&lt;/body&gt;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1005840"/>
            <a:ext cx="3977640" cy="457200"/>
          </a:xfrm>
          <a:prstGeom prst="rect">
            <a:avLst/>
          </a:prstGeom>
          <a:solidFill>
            <a:srgbClr val="1C2129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1" name="Shape 9"/>
          <p:cNvSpPr/>
          <p:nvPr/>
        </p:nvSpPr>
        <p:spPr>
          <a:xfrm>
            <a:off x="4754880" y="1005840"/>
            <a:ext cx="50292" cy="4572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2" name="Text 10"/>
          <p:cNvSpPr/>
          <p:nvPr/>
        </p:nvSpPr>
        <p:spPr>
          <a:xfrm>
            <a:off x="4892040" y="1033272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9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&lt;nav class='navbar'&gt;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892040" y="1234440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Навигация жолағы — логотип, меню, батырмалар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754880" y="1536192"/>
            <a:ext cx="3977640" cy="457200"/>
          </a:xfrm>
          <a:prstGeom prst="rect">
            <a:avLst/>
          </a:prstGeom>
          <a:solidFill>
            <a:srgbClr val="1C2129"/>
          </a:solidFill>
          <a:ln w="12700">
            <a:solidFill>
              <a:srgbClr val="F0883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5" name="Shape 13"/>
          <p:cNvSpPr/>
          <p:nvPr/>
        </p:nvSpPr>
        <p:spPr>
          <a:xfrm>
            <a:off x="4754880" y="1536192"/>
            <a:ext cx="50292" cy="457200"/>
          </a:xfrm>
          <a:prstGeom prst="rect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6" name="Text 14"/>
          <p:cNvSpPr/>
          <p:nvPr/>
        </p:nvSpPr>
        <p:spPr>
          <a:xfrm>
            <a:off x="4892040" y="1563624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088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&lt;section class='hero'&gt;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892040" y="1764792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Басты экран — үлкен тақырып + "Бастау" батырмасы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754880" y="2066544"/>
            <a:ext cx="3977640" cy="457200"/>
          </a:xfrm>
          <a:prstGeom prst="rect">
            <a:avLst/>
          </a:prstGeom>
          <a:solidFill>
            <a:srgbClr val="1C2129"/>
          </a:solidFill>
          <a:ln w="12700">
            <a:solidFill>
              <a:srgbClr val="3DC97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9" name="Shape 17"/>
          <p:cNvSpPr/>
          <p:nvPr/>
        </p:nvSpPr>
        <p:spPr>
          <a:xfrm>
            <a:off x="4754880" y="2066544"/>
            <a:ext cx="50292" cy="457200"/>
          </a:xfrm>
          <a:prstGeom prst="rect">
            <a:avLst/>
          </a:prstGeom>
          <a:solidFill>
            <a:srgbClr val="3DC97A"/>
          </a:solidFill>
          <a:ln w="12700">
            <a:solidFill>
              <a:srgbClr val="3DC97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0" name="Text 18"/>
          <p:cNvSpPr/>
          <p:nvPr/>
        </p:nvSpPr>
        <p:spPr>
          <a:xfrm>
            <a:off x="4892040" y="2093976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DC9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&lt;section id='about'&gt;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892040" y="2295144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"About" бөлімі — платформа туралы мәтін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754880" y="2596896"/>
            <a:ext cx="3977640" cy="457200"/>
          </a:xfrm>
          <a:prstGeom prst="rect">
            <a:avLst/>
          </a:prstGeom>
          <a:solidFill>
            <a:srgbClr val="1C2129"/>
          </a:solidFill>
          <a:ln w="12700">
            <a:solidFill>
              <a:srgbClr val="79C0FF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3" name="Shape 21"/>
          <p:cNvSpPr/>
          <p:nvPr/>
        </p:nvSpPr>
        <p:spPr>
          <a:xfrm>
            <a:off x="4754880" y="2596896"/>
            <a:ext cx="50292" cy="457200"/>
          </a:xfrm>
          <a:prstGeom prst="rect">
            <a:avLst/>
          </a:prstGeom>
          <a:solidFill>
            <a:srgbClr val="79C0FF"/>
          </a:solidFill>
          <a:ln w="12700">
            <a:solidFill>
              <a:srgbClr val="79C0FF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4" name="Text 22"/>
          <p:cNvSpPr/>
          <p:nvPr/>
        </p:nvSpPr>
        <p:spPr>
          <a:xfrm>
            <a:off x="4892040" y="2624328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&lt;section id='features'&gt;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892040" y="2825496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карточка: негіз, тілдер, экожүйе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754880" y="3127248"/>
            <a:ext cx="3977640" cy="457200"/>
          </a:xfrm>
          <a:prstGeom prst="rect">
            <a:avLst/>
          </a:prstGeom>
          <a:solidFill>
            <a:srgbClr val="1C2129"/>
          </a:solidFill>
          <a:ln w="12700">
            <a:solidFill>
              <a:srgbClr val="F7DF1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7" name="Shape 25"/>
          <p:cNvSpPr/>
          <p:nvPr/>
        </p:nvSpPr>
        <p:spPr>
          <a:xfrm>
            <a:off x="4754880" y="3127248"/>
            <a:ext cx="50292" cy="457200"/>
          </a:xfrm>
          <a:prstGeom prst="rect">
            <a:avLst/>
          </a:prstGeom>
          <a:solidFill>
            <a:srgbClr val="F7DF1E"/>
          </a:solidFill>
          <a:ln w="12700">
            <a:solidFill>
              <a:srgbClr val="F7DF1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8" name="Text 26"/>
          <p:cNvSpPr/>
          <p:nvPr/>
        </p:nvSpPr>
        <p:spPr>
          <a:xfrm>
            <a:off x="4892040" y="3154680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&lt;section class='section1'&gt;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892040" y="3355848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CTA бөлімі — соңғы шақыру батырмасы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754880" y="3657600"/>
            <a:ext cx="3977640" cy="457200"/>
          </a:xfrm>
          <a:prstGeom prst="rect">
            <a:avLst/>
          </a:prstGeom>
          <a:solidFill>
            <a:srgbClr val="1C2129"/>
          </a:solidFill>
          <a:ln w="12700">
            <a:solidFill>
              <a:srgbClr val="8B949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1" name="Shape 29"/>
          <p:cNvSpPr/>
          <p:nvPr/>
        </p:nvSpPr>
        <p:spPr>
          <a:xfrm>
            <a:off x="4754880" y="3657600"/>
            <a:ext cx="50292" cy="457200"/>
          </a:xfrm>
          <a:prstGeom prst="rect">
            <a:avLst/>
          </a:prstGeom>
          <a:solidFill>
            <a:srgbClr val="8B949E"/>
          </a:solidFill>
          <a:ln w="12700">
            <a:solidFill>
              <a:srgbClr val="8B949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2" name="Text 30"/>
          <p:cNvSpPr/>
          <p:nvPr/>
        </p:nvSpPr>
        <p:spPr>
          <a:xfrm>
            <a:off x="4892040" y="3685032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&lt;footer&gt;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892040" y="3886200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Футер — авторлық құқық мәтіні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754880" y="4187952"/>
            <a:ext cx="3977640" cy="457200"/>
          </a:xfrm>
          <a:prstGeom prst="rect">
            <a:avLst/>
          </a:prstGeom>
          <a:solidFill>
            <a:srgbClr val="1C2129"/>
          </a:solidFill>
          <a:ln w="12700">
            <a:solidFill>
              <a:srgbClr val="F0883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5" name="Shape 33"/>
          <p:cNvSpPr/>
          <p:nvPr/>
        </p:nvSpPr>
        <p:spPr>
          <a:xfrm>
            <a:off x="4754880" y="4187952"/>
            <a:ext cx="50292" cy="457200"/>
          </a:xfrm>
          <a:prstGeom prst="rect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6" name="Text 34"/>
          <p:cNvSpPr/>
          <p:nvPr/>
        </p:nvSpPr>
        <p:spPr>
          <a:xfrm>
            <a:off x="4892040" y="4215384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088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&lt;script src='script.js'&gt;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892040" y="4416552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 файлын қосу — &lt;body&gt; соңында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kern="0" spc="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🧭  NAVBAR — НАВИГАЦИЯ ЖОЛАҒЫ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11480" y="914400"/>
            <a:ext cx="8321040" cy="4114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" name="Shape 2"/>
          <p:cNvSpPr/>
          <p:nvPr/>
        </p:nvSpPr>
        <p:spPr>
          <a:xfrm>
            <a:off x="411480" y="1005840"/>
            <a:ext cx="4572000" cy="3749040"/>
          </a:xfrm>
          <a:prstGeom prst="rect">
            <a:avLst/>
          </a:prstGeom>
          <a:solidFill>
            <a:srgbClr val="0A0E14"/>
          </a:solidFill>
          <a:ln w="12700">
            <a:solidFill>
              <a:srgbClr val="00A896"/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5" name="Shape 3"/>
          <p:cNvSpPr/>
          <p:nvPr/>
        </p:nvSpPr>
        <p:spPr>
          <a:xfrm>
            <a:off x="411480" y="1005840"/>
            <a:ext cx="4572000" cy="256032"/>
          </a:xfrm>
          <a:prstGeom prst="rect">
            <a:avLst/>
          </a:prstGeom>
          <a:solidFill>
            <a:srgbClr val="1A2030"/>
          </a:solidFill>
          <a:ln w="12700">
            <a:solidFill>
              <a:srgbClr val="1A203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6" name="Shape 4"/>
          <p:cNvSpPr/>
          <p:nvPr/>
        </p:nvSpPr>
        <p:spPr>
          <a:xfrm>
            <a:off x="530352" y="1069848"/>
            <a:ext cx="118872" cy="118872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7" name="Shape 5"/>
          <p:cNvSpPr/>
          <p:nvPr/>
        </p:nvSpPr>
        <p:spPr>
          <a:xfrm>
            <a:off x="694944" y="1069848"/>
            <a:ext cx="118872" cy="118872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8" name="Shape 6"/>
          <p:cNvSpPr/>
          <p:nvPr/>
        </p:nvSpPr>
        <p:spPr>
          <a:xfrm>
            <a:off x="859536" y="1069848"/>
            <a:ext cx="118872" cy="118872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9" name="Text 7"/>
          <p:cNvSpPr/>
          <p:nvPr/>
        </p:nvSpPr>
        <p:spPr>
          <a:xfrm>
            <a:off x="548640" y="1316736"/>
            <a:ext cx="4315968" cy="33467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0C9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&lt;nav class='navbar'&gt;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&lt;!-- Логотип --&gt;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&lt;div class='logo'&gt;CODY&lt;/div&gt;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&lt;!-- Меню сілтемелері --&gt;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&lt;ul&gt;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&lt;li&gt;&lt;a href='#about'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DC9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data-i='nav_about'&gt;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About&lt;/a&gt;&lt;/li&gt;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&lt;/ul&gt;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088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&lt;div class='nav-controls'&gt;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&lt;!-- Тіл батырмалары --&gt;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&lt;button onclick='setLang("en")'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class='ctrl-btn'&gt;EN&lt;/button&gt;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&lt;!-- Тема батырмасы --&gt;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C9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&lt;button id='themeBtn'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C9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onclick='toggleTheme()'&gt;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&lt;!-- Avatar немесе Login --&gt;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088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&lt;/div&gt;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C9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&lt;/nav&gt;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212080" y="1005840"/>
            <a:ext cx="3520440" cy="457200"/>
          </a:xfrm>
          <a:prstGeom prst="rect">
            <a:avLst/>
          </a:prstGeom>
          <a:solidFill>
            <a:srgbClr val="1C2129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1" name="Shape 9"/>
          <p:cNvSpPr/>
          <p:nvPr/>
        </p:nvSpPr>
        <p:spPr>
          <a:xfrm>
            <a:off x="5212080" y="1005840"/>
            <a:ext cx="50292" cy="4572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2" name="Text 10"/>
          <p:cNvSpPr/>
          <p:nvPr/>
        </p:nvSpPr>
        <p:spPr>
          <a:xfrm>
            <a:off x="5349240" y="1033272"/>
            <a:ext cx="3291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C9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class='navbar'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349240" y="1243584"/>
            <a:ext cx="3291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Навигация тегі — position: fixed, backdrop-filter: blur()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212080" y="1536192"/>
            <a:ext cx="3520440" cy="457200"/>
          </a:xfrm>
          <a:prstGeom prst="rect">
            <a:avLst/>
          </a:prstGeom>
          <a:solidFill>
            <a:srgbClr val="1C2129"/>
          </a:solidFill>
          <a:ln w="12700">
            <a:solidFill>
              <a:srgbClr val="3DC97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5" name="Shape 13"/>
          <p:cNvSpPr/>
          <p:nvPr/>
        </p:nvSpPr>
        <p:spPr>
          <a:xfrm>
            <a:off x="5212080" y="1536192"/>
            <a:ext cx="50292" cy="457200"/>
          </a:xfrm>
          <a:prstGeom prst="rect">
            <a:avLst/>
          </a:prstGeom>
          <a:solidFill>
            <a:srgbClr val="3DC97A"/>
          </a:solidFill>
          <a:ln w="12700">
            <a:solidFill>
              <a:srgbClr val="3DC97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6" name="Text 14"/>
          <p:cNvSpPr/>
          <p:nvPr/>
        </p:nvSpPr>
        <p:spPr>
          <a:xfrm>
            <a:off x="5349240" y="1563624"/>
            <a:ext cx="3291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DC9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data-i='nav_about'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349240" y="1773936"/>
            <a:ext cx="3291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Аудармашы кілті — JS setLang() осыны табып мәтін ауыстырады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212080" y="2066544"/>
            <a:ext cx="3520440" cy="457200"/>
          </a:xfrm>
          <a:prstGeom prst="rect">
            <a:avLst/>
          </a:prstGeom>
          <a:solidFill>
            <a:srgbClr val="1C2129"/>
          </a:solidFill>
          <a:ln w="12700">
            <a:solidFill>
              <a:srgbClr val="F0883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9" name="Shape 17"/>
          <p:cNvSpPr/>
          <p:nvPr/>
        </p:nvSpPr>
        <p:spPr>
          <a:xfrm>
            <a:off x="5212080" y="2066544"/>
            <a:ext cx="50292" cy="457200"/>
          </a:xfrm>
          <a:prstGeom prst="rect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0" name="Text 18"/>
          <p:cNvSpPr/>
          <p:nvPr/>
        </p:nvSpPr>
        <p:spPr>
          <a:xfrm>
            <a:off x="5349240" y="2093976"/>
            <a:ext cx="3291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088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class='nav-controls'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349240" y="2304288"/>
            <a:ext cx="3291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Оң жақ блок: тіл + тема + аватар/кіру батырмалары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212080" y="2596896"/>
            <a:ext cx="3520440" cy="457200"/>
          </a:xfrm>
          <a:prstGeom prst="rect">
            <a:avLst/>
          </a:prstGeom>
          <a:solidFill>
            <a:srgbClr val="1C2129"/>
          </a:solidFill>
          <a:ln w="12700">
            <a:solidFill>
              <a:srgbClr val="F7DF1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3" name="Shape 21"/>
          <p:cNvSpPr/>
          <p:nvPr/>
        </p:nvSpPr>
        <p:spPr>
          <a:xfrm>
            <a:off x="5212080" y="2596896"/>
            <a:ext cx="50292" cy="457200"/>
          </a:xfrm>
          <a:prstGeom prst="rect">
            <a:avLst/>
          </a:prstGeom>
          <a:solidFill>
            <a:srgbClr val="F7DF1E"/>
          </a:solidFill>
          <a:ln w="12700">
            <a:solidFill>
              <a:srgbClr val="F7DF1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4" name="Text 22"/>
          <p:cNvSpPr/>
          <p:nvPr/>
        </p:nvSpPr>
        <p:spPr>
          <a:xfrm>
            <a:off x="5349240" y="2624328"/>
            <a:ext cx="3291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onclick='setLang("en")'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349240" y="2834640"/>
            <a:ext cx="3291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Тілді ауыстыру функциясы — EN/RU/KZ батырмалары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212080" y="3127248"/>
            <a:ext cx="3520440" cy="457200"/>
          </a:xfrm>
          <a:prstGeom prst="rect">
            <a:avLst/>
          </a:prstGeom>
          <a:solidFill>
            <a:srgbClr val="1C2129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7" name="Shape 25"/>
          <p:cNvSpPr/>
          <p:nvPr/>
        </p:nvSpPr>
        <p:spPr>
          <a:xfrm>
            <a:off x="5212080" y="3127248"/>
            <a:ext cx="50292" cy="4572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8" name="Text 26"/>
          <p:cNvSpPr/>
          <p:nvPr/>
        </p:nvSpPr>
        <p:spPr>
          <a:xfrm>
            <a:off x="5349240" y="3154680"/>
            <a:ext cx="3291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C9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onclick='toggleTheme()'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349240" y="3364992"/>
            <a:ext cx="3291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Тема ауыстырады — body-ге .light класын қосады/алады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212080" y="3657600"/>
            <a:ext cx="3520440" cy="457200"/>
          </a:xfrm>
          <a:prstGeom prst="rect">
            <a:avLst/>
          </a:prstGeom>
          <a:solidFill>
            <a:srgbClr val="1C2129"/>
          </a:solidFill>
          <a:ln w="12700">
            <a:solidFill>
              <a:srgbClr val="79C0FF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1" name="Shape 29"/>
          <p:cNvSpPr/>
          <p:nvPr/>
        </p:nvSpPr>
        <p:spPr>
          <a:xfrm>
            <a:off x="5212080" y="3657600"/>
            <a:ext cx="50292" cy="457200"/>
          </a:xfrm>
          <a:prstGeom prst="rect">
            <a:avLst/>
          </a:prstGeom>
          <a:solidFill>
            <a:srgbClr val="79C0FF"/>
          </a:solidFill>
          <a:ln w="12700">
            <a:solidFill>
              <a:srgbClr val="79C0FF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2" name="Text 30"/>
          <p:cNvSpPr/>
          <p:nvPr/>
        </p:nvSpPr>
        <p:spPr>
          <a:xfrm>
            <a:off x="5349240" y="3685032"/>
            <a:ext cx="3291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id='loginLink'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349240" y="3895344"/>
            <a:ext cx="3291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Кірмеген кезде көрінеді, кіргенде display:none болады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212080" y="4187952"/>
            <a:ext cx="3520440" cy="457200"/>
          </a:xfrm>
          <a:prstGeom prst="rect">
            <a:avLst/>
          </a:prstGeom>
          <a:solidFill>
            <a:srgbClr val="1C2129"/>
          </a:solidFill>
          <a:ln w="12700">
            <a:solidFill>
              <a:srgbClr val="A97BFF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5" name="Shape 33"/>
          <p:cNvSpPr/>
          <p:nvPr/>
        </p:nvSpPr>
        <p:spPr>
          <a:xfrm>
            <a:off x="5212080" y="4187952"/>
            <a:ext cx="50292" cy="457200"/>
          </a:xfrm>
          <a:prstGeom prst="rect">
            <a:avLst/>
          </a:prstGeom>
          <a:solidFill>
            <a:srgbClr val="A97BFF"/>
          </a:solidFill>
          <a:ln w="12700">
            <a:solidFill>
              <a:srgbClr val="A97BFF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6" name="Text 34"/>
          <p:cNvSpPr/>
          <p:nvPr/>
        </p:nvSpPr>
        <p:spPr>
          <a:xfrm>
            <a:off x="5349240" y="4215384"/>
            <a:ext cx="3291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A97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id='avatarWrap'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5349240" y="4425696"/>
            <a:ext cx="3291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Кіргенде көрінеді — атау бастапқы әрпін шеңберде көрсетеді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kern="0" spc="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🎨  CSS — СТИЛЬДЕР ЖҮЙЕСІ (style.css)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11480" y="914400"/>
            <a:ext cx="8321040" cy="41148"/>
          </a:xfrm>
          <a:prstGeom prst="rect">
            <a:avLst/>
          </a:prstGeom>
          <a:solidFill>
            <a:srgbClr val="3DC97A"/>
          </a:solidFill>
          <a:ln w="12700">
            <a:solidFill>
              <a:srgbClr val="3DC97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" name="Shape 2"/>
          <p:cNvSpPr/>
          <p:nvPr/>
        </p:nvSpPr>
        <p:spPr>
          <a:xfrm>
            <a:off x="411480" y="1005840"/>
            <a:ext cx="4297680" cy="3749040"/>
          </a:xfrm>
          <a:prstGeom prst="rect">
            <a:avLst/>
          </a:prstGeom>
          <a:solidFill>
            <a:srgbClr val="0A0E14"/>
          </a:solidFill>
          <a:ln w="12700">
            <a:solidFill>
              <a:srgbClr val="00A896"/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5" name="Shape 3"/>
          <p:cNvSpPr/>
          <p:nvPr/>
        </p:nvSpPr>
        <p:spPr>
          <a:xfrm>
            <a:off x="411480" y="1005840"/>
            <a:ext cx="4297680" cy="256032"/>
          </a:xfrm>
          <a:prstGeom prst="rect">
            <a:avLst/>
          </a:prstGeom>
          <a:solidFill>
            <a:srgbClr val="1A2030"/>
          </a:solidFill>
          <a:ln w="12700">
            <a:solidFill>
              <a:srgbClr val="1A203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6" name="Shape 4"/>
          <p:cNvSpPr/>
          <p:nvPr/>
        </p:nvSpPr>
        <p:spPr>
          <a:xfrm>
            <a:off x="530352" y="1069848"/>
            <a:ext cx="118872" cy="118872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7" name="Shape 5"/>
          <p:cNvSpPr/>
          <p:nvPr/>
        </p:nvSpPr>
        <p:spPr>
          <a:xfrm>
            <a:off x="694944" y="1069848"/>
            <a:ext cx="118872" cy="118872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8" name="Shape 6"/>
          <p:cNvSpPr/>
          <p:nvPr/>
        </p:nvSpPr>
        <p:spPr>
          <a:xfrm>
            <a:off x="859536" y="1069848"/>
            <a:ext cx="118872" cy="118872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9" name="Text 7"/>
          <p:cNvSpPr/>
          <p:nvPr/>
        </p:nvSpPr>
        <p:spPr>
          <a:xfrm>
            <a:off x="548640" y="1316736"/>
            <a:ext cx="4041648" cy="33467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1. ГЛОБАЛЬДЫ RESET */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margin: 0;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padding: 0;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DC9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box-sizing: border-box;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font-family: Arial, sans-serif;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scroll-behavior: smooth;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2. НЕГІЗГІ ФОНДАР */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088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body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background: #0f0f0f;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color: white;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088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3. NAVBAR */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C9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.navbar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position: fixed;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backdrop-filter: blur(10px);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background: rgba(0,0,0,0.8);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C9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937760" y="1005840"/>
            <a:ext cx="1783080" cy="1737360"/>
          </a:xfrm>
          <a:prstGeom prst="rect">
            <a:avLst/>
          </a:prstGeom>
          <a:solidFill>
            <a:srgbClr val="1C2129"/>
          </a:solidFill>
          <a:ln w="12700">
            <a:solidFill>
              <a:srgbClr val="79C0FF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1" name="Shape 9"/>
          <p:cNvSpPr/>
          <p:nvPr/>
        </p:nvSpPr>
        <p:spPr>
          <a:xfrm>
            <a:off x="4937760" y="1005840"/>
            <a:ext cx="1783080" cy="50292"/>
          </a:xfrm>
          <a:prstGeom prst="rect">
            <a:avLst/>
          </a:prstGeom>
          <a:solidFill>
            <a:srgbClr val="79C0FF"/>
          </a:solidFill>
          <a:ln w="12700">
            <a:solidFill>
              <a:srgbClr val="79C0FF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2" name="Text 10"/>
          <p:cNvSpPr/>
          <p:nvPr/>
        </p:nvSpPr>
        <p:spPr>
          <a:xfrm>
            <a:off x="5029200" y="1097280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79C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{} — Universal Reset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029200" y="1554480"/>
            <a:ext cx="16002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Барлық элементтен margin/padding алып тастайды. box-sizing: border-box — padding өлшемге кірмейді.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903720" y="1005840"/>
            <a:ext cx="1783080" cy="1737360"/>
          </a:xfrm>
          <a:prstGeom prst="rect">
            <a:avLst/>
          </a:prstGeom>
          <a:solidFill>
            <a:srgbClr val="1C2129"/>
          </a:solidFill>
          <a:ln w="12700">
            <a:solidFill>
              <a:srgbClr val="F7DF1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5" name="Shape 13"/>
          <p:cNvSpPr/>
          <p:nvPr/>
        </p:nvSpPr>
        <p:spPr>
          <a:xfrm>
            <a:off x="6903720" y="1005840"/>
            <a:ext cx="1783080" cy="50292"/>
          </a:xfrm>
          <a:prstGeom prst="rect">
            <a:avLst/>
          </a:prstGeom>
          <a:solidFill>
            <a:srgbClr val="F7DF1E"/>
          </a:solidFill>
          <a:ln w="12700">
            <a:solidFill>
              <a:srgbClr val="F7DF1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6" name="Text 14"/>
          <p:cNvSpPr/>
          <p:nvPr/>
        </p:nvSpPr>
        <p:spPr>
          <a:xfrm>
            <a:off x="6995160" y="1097280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scroll-behavior: smooth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995160" y="1554480"/>
            <a:ext cx="16002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Бетте anchor (#about) сілтемесін басқанда тегіс scroll болады — жүреді, секірмейді.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937760" y="2880360"/>
            <a:ext cx="1783080" cy="1737360"/>
          </a:xfrm>
          <a:prstGeom prst="rect">
            <a:avLst/>
          </a:prstGeom>
          <a:solidFill>
            <a:srgbClr val="1C2129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9" name="Shape 17"/>
          <p:cNvSpPr/>
          <p:nvPr/>
        </p:nvSpPr>
        <p:spPr>
          <a:xfrm>
            <a:off x="4937760" y="2880360"/>
            <a:ext cx="1783080" cy="5029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0" name="Text 18"/>
          <p:cNvSpPr/>
          <p:nvPr/>
        </p:nvSpPr>
        <p:spPr>
          <a:xfrm>
            <a:off x="5029200" y="2971800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backdrop-filter: blur(10px)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029200" y="3429000"/>
            <a:ext cx="16002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Navbar астындағы мазмұнды бұлыңғырлайды — "шынылы" эффект. Заманауи браузерлер.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903720" y="2880360"/>
            <a:ext cx="1783080" cy="1737360"/>
          </a:xfrm>
          <a:prstGeom prst="rect">
            <a:avLst/>
          </a:prstGeom>
          <a:solidFill>
            <a:srgbClr val="1C2129"/>
          </a:solidFill>
          <a:ln w="12700">
            <a:solidFill>
              <a:srgbClr val="3DC97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3" name="Shape 21"/>
          <p:cNvSpPr/>
          <p:nvPr/>
        </p:nvSpPr>
        <p:spPr>
          <a:xfrm>
            <a:off x="6903720" y="2880360"/>
            <a:ext cx="1783080" cy="50292"/>
          </a:xfrm>
          <a:prstGeom prst="rect">
            <a:avLst/>
          </a:prstGeom>
          <a:solidFill>
            <a:srgbClr val="3DC97A"/>
          </a:solidFill>
          <a:ln w="12700">
            <a:solidFill>
              <a:srgbClr val="3DC97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4" name="Text 22"/>
          <p:cNvSpPr/>
          <p:nvPr/>
        </p:nvSpPr>
        <p:spPr>
          <a:xfrm>
            <a:off x="6995160" y="2971800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D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rgba(0,0,0,0.8)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995160" y="3429000"/>
            <a:ext cx="16002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Мөлдір қара фон — 0.8 = 80% қараңғылық, 20% мөлдір. Navbar scroll-да 0.95-ке жетеді.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kern="0" spc="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🌙☀️  CSS — КҮНДІЗГІ / ТҮНГІ ТЕМА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11480" y="914400"/>
            <a:ext cx="8321040" cy="41148"/>
          </a:xfrm>
          <a:prstGeom prst="rect">
            <a:avLst/>
          </a:prstGeom>
          <a:solidFill>
            <a:srgbClr val="79C0FF"/>
          </a:solidFill>
          <a:ln w="12700">
            <a:solidFill>
              <a:srgbClr val="79C0FF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" name="Shape 2"/>
          <p:cNvSpPr/>
          <p:nvPr/>
        </p:nvSpPr>
        <p:spPr>
          <a:xfrm>
            <a:off x="411480" y="1005840"/>
            <a:ext cx="4297680" cy="3749040"/>
          </a:xfrm>
          <a:prstGeom prst="rect">
            <a:avLst/>
          </a:prstGeom>
          <a:solidFill>
            <a:srgbClr val="0A0E14"/>
          </a:solidFill>
          <a:ln w="12700">
            <a:solidFill>
              <a:srgbClr val="00A896"/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5" name="Shape 3"/>
          <p:cNvSpPr/>
          <p:nvPr/>
        </p:nvSpPr>
        <p:spPr>
          <a:xfrm>
            <a:off x="411480" y="1005840"/>
            <a:ext cx="4297680" cy="256032"/>
          </a:xfrm>
          <a:prstGeom prst="rect">
            <a:avLst/>
          </a:prstGeom>
          <a:solidFill>
            <a:srgbClr val="1A2030"/>
          </a:solidFill>
          <a:ln w="12700">
            <a:solidFill>
              <a:srgbClr val="1A203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6" name="Shape 4"/>
          <p:cNvSpPr/>
          <p:nvPr/>
        </p:nvSpPr>
        <p:spPr>
          <a:xfrm>
            <a:off x="530352" y="1069848"/>
            <a:ext cx="118872" cy="118872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7" name="Shape 5"/>
          <p:cNvSpPr/>
          <p:nvPr/>
        </p:nvSpPr>
        <p:spPr>
          <a:xfrm>
            <a:off x="694944" y="1069848"/>
            <a:ext cx="118872" cy="118872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8" name="Shape 6"/>
          <p:cNvSpPr/>
          <p:nvPr/>
        </p:nvSpPr>
        <p:spPr>
          <a:xfrm>
            <a:off x="859536" y="1069848"/>
            <a:ext cx="118872" cy="118872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9" name="Text 7"/>
          <p:cNvSpPr/>
          <p:nvPr/>
        </p:nvSpPr>
        <p:spPr>
          <a:xfrm>
            <a:off x="548640" y="1316736"/>
            <a:ext cx="4041648" cy="33467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── DARK (ӘДЕПКІ) ── */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088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body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background: #0f0f0f;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color: white;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088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── LIGHT (body.light болса) ── */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body.light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background: #f4f4f4;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color: #111;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body.light .navbar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background: rgba(255,255,255,0.95);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body.light .card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background: #d8d8d8;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color: #111;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body.light .hero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DC9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background: linear-gradient(...);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937760" y="1005840"/>
            <a:ext cx="3794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9C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JS: Тема ауыстыру функциясы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937760" y="1371600"/>
            <a:ext cx="3794760" cy="1371600"/>
          </a:xfrm>
          <a:prstGeom prst="rect">
            <a:avLst/>
          </a:prstGeom>
          <a:solidFill>
            <a:srgbClr val="0A0E14"/>
          </a:solidFill>
          <a:ln w="12700">
            <a:solidFill>
              <a:srgbClr val="00A896"/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2" name="Shape 10"/>
          <p:cNvSpPr/>
          <p:nvPr/>
        </p:nvSpPr>
        <p:spPr>
          <a:xfrm>
            <a:off x="4937760" y="1371600"/>
            <a:ext cx="3794760" cy="256032"/>
          </a:xfrm>
          <a:prstGeom prst="rect">
            <a:avLst/>
          </a:prstGeom>
          <a:solidFill>
            <a:srgbClr val="1A2030"/>
          </a:solidFill>
          <a:ln w="12700">
            <a:solidFill>
              <a:srgbClr val="1A203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3" name="Shape 11"/>
          <p:cNvSpPr/>
          <p:nvPr/>
        </p:nvSpPr>
        <p:spPr>
          <a:xfrm>
            <a:off x="5056632" y="1435608"/>
            <a:ext cx="118872" cy="118872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4" name="Shape 12"/>
          <p:cNvSpPr/>
          <p:nvPr/>
        </p:nvSpPr>
        <p:spPr>
          <a:xfrm>
            <a:off x="5221224" y="1435608"/>
            <a:ext cx="118872" cy="118872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5" name="Shape 13"/>
          <p:cNvSpPr/>
          <p:nvPr/>
        </p:nvSpPr>
        <p:spPr>
          <a:xfrm>
            <a:off x="5385816" y="1435608"/>
            <a:ext cx="118872" cy="118872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6" name="Text 14"/>
          <p:cNvSpPr/>
          <p:nvPr/>
        </p:nvSpPr>
        <p:spPr>
          <a:xfrm>
            <a:off x="5074920" y="1682496"/>
            <a:ext cx="3538728" cy="9692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dark = true;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toggleTheme()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dark = !dark;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C9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document.body.classList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DC9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.toggle('light', !dark);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themeBtn.textContent =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088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dark ? '🌙' : '☀️';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937760" y="2834640"/>
            <a:ext cx="3794760" cy="402336"/>
          </a:xfrm>
          <a:prstGeom prst="rect">
            <a:avLst/>
          </a:prstGeom>
          <a:solidFill>
            <a:srgbClr val="1C2129"/>
          </a:solidFill>
          <a:ln w="12700">
            <a:solidFill>
              <a:srgbClr val="79C0FF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8" name="Shape 16"/>
          <p:cNvSpPr/>
          <p:nvPr/>
        </p:nvSpPr>
        <p:spPr>
          <a:xfrm>
            <a:off x="4937760" y="2834640"/>
            <a:ext cx="50292" cy="402336"/>
          </a:xfrm>
          <a:prstGeom prst="rect">
            <a:avLst/>
          </a:prstGeom>
          <a:solidFill>
            <a:srgbClr val="79C0FF"/>
          </a:solidFill>
          <a:ln w="12700">
            <a:solidFill>
              <a:srgbClr val="79C0FF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9" name="Text 17"/>
          <p:cNvSpPr/>
          <p:nvPr/>
        </p:nvSpPr>
        <p:spPr>
          <a:xfrm>
            <a:off x="5074920" y="2862072"/>
            <a:ext cx="3566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body.light {...}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074920" y="3044952"/>
            <a:ext cx="356616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CSS-те body-ге .light класы болса — барлық стиль ауысады. Жеке .light ережелері анықталады.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937760" y="3291840"/>
            <a:ext cx="3794760" cy="402336"/>
          </a:xfrm>
          <a:prstGeom prst="rect">
            <a:avLst/>
          </a:prstGeom>
          <a:solidFill>
            <a:srgbClr val="1C2129"/>
          </a:solidFill>
          <a:ln w="12700">
            <a:solidFill>
              <a:srgbClr val="3DC97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2" name="Shape 20"/>
          <p:cNvSpPr/>
          <p:nvPr/>
        </p:nvSpPr>
        <p:spPr>
          <a:xfrm>
            <a:off x="4937760" y="3291840"/>
            <a:ext cx="50292" cy="402336"/>
          </a:xfrm>
          <a:prstGeom prst="rect">
            <a:avLst/>
          </a:prstGeom>
          <a:solidFill>
            <a:srgbClr val="3DC97A"/>
          </a:solidFill>
          <a:ln w="12700">
            <a:solidFill>
              <a:srgbClr val="3DC97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3" name="Text 21"/>
          <p:cNvSpPr/>
          <p:nvPr/>
        </p:nvSpPr>
        <p:spPr>
          <a:xfrm>
            <a:off x="5074920" y="3319272"/>
            <a:ext cx="3566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DC9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classList.toggle()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074920" y="3502152"/>
            <a:ext cx="356616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toggle('light', !dark) — dark=false болса .light қосады, true болса алады.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937760" y="3749040"/>
            <a:ext cx="3794760" cy="402336"/>
          </a:xfrm>
          <a:prstGeom prst="rect">
            <a:avLst/>
          </a:prstGeom>
          <a:solidFill>
            <a:srgbClr val="1C2129"/>
          </a:solidFill>
          <a:ln w="12700">
            <a:solidFill>
              <a:srgbClr val="F7DF1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6" name="Shape 24"/>
          <p:cNvSpPr/>
          <p:nvPr/>
        </p:nvSpPr>
        <p:spPr>
          <a:xfrm>
            <a:off x="4937760" y="3749040"/>
            <a:ext cx="50292" cy="402336"/>
          </a:xfrm>
          <a:prstGeom prst="rect">
            <a:avLst/>
          </a:prstGeom>
          <a:solidFill>
            <a:srgbClr val="F7DF1E"/>
          </a:solidFill>
          <a:ln w="12700">
            <a:solidFill>
              <a:srgbClr val="F7DF1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7" name="Text 25"/>
          <p:cNvSpPr/>
          <p:nvPr/>
        </p:nvSpPr>
        <p:spPr>
          <a:xfrm>
            <a:off x="5074920" y="3776472"/>
            <a:ext cx="3566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!dark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074920" y="3959352"/>
            <a:ext cx="356616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= !dark — true↔false ауысып тұрады (boolean flip).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937760" y="4206240"/>
            <a:ext cx="3794760" cy="402336"/>
          </a:xfrm>
          <a:prstGeom prst="rect">
            <a:avLst/>
          </a:prstGeom>
          <a:solidFill>
            <a:srgbClr val="1C2129"/>
          </a:solidFill>
          <a:ln w="12700">
            <a:solidFill>
              <a:srgbClr val="F0883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0" name="Shape 28"/>
          <p:cNvSpPr/>
          <p:nvPr/>
        </p:nvSpPr>
        <p:spPr>
          <a:xfrm>
            <a:off x="4937760" y="4206240"/>
            <a:ext cx="50292" cy="402336"/>
          </a:xfrm>
          <a:prstGeom prst="rect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1" name="Text 29"/>
          <p:cNvSpPr/>
          <p:nvPr/>
        </p:nvSpPr>
        <p:spPr>
          <a:xfrm>
            <a:off x="5074920" y="4233672"/>
            <a:ext cx="3566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088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textContent = '🌙'/'☀️'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5074920" y="4416552"/>
            <a:ext cx="356616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Тема батырмасының белгісі тематикаға сәйкес ауысады.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kern="0" spc="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✨  CSS — HOVER ЭФФЕКТІЛЕРІ ЖӘНЕ АНИМАЦИЯ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11480" y="914400"/>
            <a:ext cx="8321040" cy="41148"/>
          </a:xfrm>
          <a:prstGeom prst="rect">
            <a:avLst/>
          </a:prstGeom>
          <a:solidFill>
            <a:srgbClr val="3DC97A"/>
          </a:solidFill>
          <a:ln w="12700">
            <a:solidFill>
              <a:srgbClr val="3DC97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" name="Shape 2"/>
          <p:cNvSpPr/>
          <p:nvPr/>
        </p:nvSpPr>
        <p:spPr>
          <a:xfrm>
            <a:off x="411480" y="1005840"/>
            <a:ext cx="4206240" cy="3749040"/>
          </a:xfrm>
          <a:prstGeom prst="rect">
            <a:avLst/>
          </a:prstGeom>
          <a:solidFill>
            <a:srgbClr val="0A0E14"/>
          </a:solidFill>
          <a:ln w="12700">
            <a:solidFill>
              <a:srgbClr val="00A896"/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5" name="Shape 3"/>
          <p:cNvSpPr/>
          <p:nvPr/>
        </p:nvSpPr>
        <p:spPr>
          <a:xfrm>
            <a:off x="411480" y="1005840"/>
            <a:ext cx="4206240" cy="256032"/>
          </a:xfrm>
          <a:prstGeom prst="rect">
            <a:avLst/>
          </a:prstGeom>
          <a:solidFill>
            <a:srgbClr val="1A2030"/>
          </a:solidFill>
          <a:ln w="12700">
            <a:solidFill>
              <a:srgbClr val="1A203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6" name="Shape 4"/>
          <p:cNvSpPr/>
          <p:nvPr/>
        </p:nvSpPr>
        <p:spPr>
          <a:xfrm>
            <a:off x="530352" y="1069848"/>
            <a:ext cx="118872" cy="118872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7" name="Shape 5"/>
          <p:cNvSpPr/>
          <p:nvPr/>
        </p:nvSpPr>
        <p:spPr>
          <a:xfrm>
            <a:off x="694944" y="1069848"/>
            <a:ext cx="118872" cy="118872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8" name="Shape 6"/>
          <p:cNvSpPr/>
          <p:nvPr/>
        </p:nvSpPr>
        <p:spPr>
          <a:xfrm>
            <a:off x="859536" y="1069848"/>
            <a:ext cx="118872" cy="118872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9" name="Text 7"/>
          <p:cNvSpPr/>
          <p:nvPr/>
        </p:nvSpPr>
        <p:spPr>
          <a:xfrm>
            <a:off x="548640" y="1316736"/>
            <a:ext cx="3950208" cy="33467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NEON батырма */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.btn.neon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background: #1100ff;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border-radius: 25px;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DC9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transition: 0.3s;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C9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.neon:hover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box-shadow: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0 0 20px rgba(17,0,255,0.7);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transform: scale(1.05);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C9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Карточка hover */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088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.card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DC9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transition: 0.3s;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088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C9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.card:hover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transform: translateY(-5px);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box-shadow: 0 10px 30px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rgba(17,0,255,0.2);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C9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1005840"/>
            <a:ext cx="1965960" cy="1170432"/>
          </a:xfrm>
          <a:prstGeom prst="rect">
            <a:avLst/>
          </a:prstGeom>
          <a:solidFill>
            <a:srgbClr val="1C2129"/>
          </a:solidFill>
          <a:ln w="12700">
            <a:solidFill>
              <a:srgbClr val="3DC97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1" name="Shape 9"/>
          <p:cNvSpPr/>
          <p:nvPr/>
        </p:nvSpPr>
        <p:spPr>
          <a:xfrm>
            <a:off x="4754880" y="1005840"/>
            <a:ext cx="1965960" cy="50292"/>
          </a:xfrm>
          <a:prstGeom prst="rect">
            <a:avLst/>
          </a:prstGeom>
          <a:solidFill>
            <a:srgbClr val="3DC97A"/>
          </a:solidFill>
          <a:ln w="12700">
            <a:solidFill>
              <a:srgbClr val="3DC97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2" name="Text 10"/>
          <p:cNvSpPr/>
          <p:nvPr/>
        </p:nvSpPr>
        <p:spPr>
          <a:xfrm>
            <a:off x="4846320" y="109728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DC9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transition: 0.3s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846320" y="1435608"/>
            <a:ext cx="17830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Барлық өзгерісті 0.3 секундта тегіс орындайды. Hover-ды жұмсартады.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876288" y="1005840"/>
            <a:ext cx="1965960" cy="1170432"/>
          </a:xfrm>
          <a:prstGeom prst="rect">
            <a:avLst/>
          </a:prstGeom>
          <a:solidFill>
            <a:srgbClr val="1C2129"/>
          </a:solidFill>
          <a:ln w="12700">
            <a:solidFill>
              <a:srgbClr val="79C0FF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5" name="Shape 13"/>
          <p:cNvSpPr/>
          <p:nvPr/>
        </p:nvSpPr>
        <p:spPr>
          <a:xfrm>
            <a:off x="6876288" y="1005840"/>
            <a:ext cx="1965960" cy="50292"/>
          </a:xfrm>
          <a:prstGeom prst="rect">
            <a:avLst/>
          </a:prstGeom>
          <a:solidFill>
            <a:srgbClr val="79C0FF"/>
          </a:solidFill>
          <a:ln w="12700">
            <a:solidFill>
              <a:srgbClr val="79C0FF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6" name="Text 14"/>
          <p:cNvSpPr/>
          <p:nvPr/>
        </p:nvSpPr>
        <p:spPr>
          <a:xfrm>
            <a:off x="6967728" y="109728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box-shadow: 0 0 20px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967728" y="1435608"/>
            <a:ext cx="17830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Neon жарқыл эффекті — x=0, y=0, blur=20px, түсі — синді нео жарық.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754880" y="2267712"/>
            <a:ext cx="1965960" cy="1170432"/>
          </a:xfrm>
          <a:prstGeom prst="rect">
            <a:avLst/>
          </a:prstGeom>
          <a:solidFill>
            <a:srgbClr val="1C2129"/>
          </a:solidFill>
          <a:ln w="12700">
            <a:solidFill>
              <a:srgbClr val="F7DF1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9" name="Shape 17"/>
          <p:cNvSpPr/>
          <p:nvPr/>
        </p:nvSpPr>
        <p:spPr>
          <a:xfrm>
            <a:off x="4754880" y="2267712"/>
            <a:ext cx="1965960" cy="50292"/>
          </a:xfrm>
          <a:prstGeom prst="rect">
            <a:avLst/>
          </a:prstGeom>
          <a:solidFill>
            <a:srgbClr val="F7DF1E"/>
          </a:solidFill>
          <a:ln w="12700">
            <a:solidFill>
              <a:srgbClr val="F7DF1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0" name="Text 18"/>
          <p:cNvSpPr/>
          <p:nvPr/>
        </p:nvSpPr>
        <p:spPr>
          <a:xfrm>
            <a:off x="4846320" y="2359152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transform: scale(1.05)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846320" y="2697480"/>
            <a:ext cx="17830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Батырма 5%-ке үлкееді — hover-да "басу" сезімін береді.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876288" y="2267712"/>
            <a:ext cx="1965960" cy="1170432"/>
          </a:xfrm>
          <a:prstGeom prst="rect">
            <a:avLst/>
          </a:prstGeom>
          <a:solidFill>
            <a:srgbClr val="1C2129"/>
          </a:solidFill>
          <a:ln w="12700">
            <a:solidFill>
              <a:srgbClr val="F0883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3" name="Shape 21"/>
          <p:cNvSpPr/>
          <p:nvPr/>
        </p:nvSpPr>
        <p:spPr>
          <a:xfrm>
            <a:off x="6876288" y="2267712"/>
            <a:ext cx="1965960" cy="50292"/>
          </a:xfrm>
          <a:prstGeom prst="rect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4" name="Text 22"/>
          <p:cNvSpPr/>
          <p:nvPr/>
        </p:nvSpPr>
        <p:spPr>
          <a:xfrm>
            <a:off x="6967728" y="2359152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088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translateY(-5px)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967728" y="2697480"/>
            <a:ext cx="17830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Карточка 5px жоғары "ұшады" — hover-да жоғары сырғу эффекті.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754880" y="3529584"/>
            <a:ext cx="1965960" cy="1170432"/>
          </a:xfrm>
          <a:prstGeom prst="rect">
            <a:avLst/>
          </a:prstGeom>
          <a:solidFill>
            <a:srgbClr val="1C2129"/>
          </a:solidFill>
          <a:ln w="12700">
            <a:solidFill>
              <a:srgbClr val="A97BFF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7" name="Shape 25"/>
          <p:cNvSpPr/>
          <p:nvPr/>
        </p:nvSpPr>
        <p:spPr>
          <a:xfrm>
            <a:off x="4754880" y="3529584"/>
            <a:ext cx="1965960" cy="50292"/>
          </a:xfrm>
          <a:prstGeom prst="rect">
            <a:avLst/>
          </a:prstGeom>
          <a:solidFill>
            <a:srgbClr val="A97BFF"/>
          </a:solidFill>
          <a:ln w="12700">
            <a:solidFill>
              <a:srgbClr val="A97BFF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8" name="Text 26"/>
          <p:cNvSpPr/>
          <p:nvPr/>
        </p:nvSpPr>
        <p:spPr>
          <a:xfrm>
            <a:off x="4846320" y="3621024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A97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rgba(17,0,255,0.2)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846320" y="3959352"/>
            <a:ext cx="17830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Синді көлеңке — 20% мөлдірлікте. Hover-да тереңдік сезімі.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876288" y="3529584"/>
            <a:ext cx="1965960" cy="1170432"/>
          </a:xfrm>
          <a:prstGeom prst="rect">
            <a:avLst/>
          </a:prstGeom>
          <a:solidFill>
            <a:srgbClr val="1C2129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1" name="Shape 29"/>
          <p:cNvSpPr/>
          <p:nvPr/>
        </p:nvSpPr>
        <p:spPr>
          <a:xfrm>
            <a:off x="6876288" y="3529584"/>
            <a:ext cx="1965960" cy="5029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2" name="Text 30"/>
          <p:cNvSpPr/>
          <p:nvPr/>
        </p:nvSpPr>
        <p:spPr>
          <a:xfrm>
            <a:off x="6967728" y="3621024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C9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border-radius: 25px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967728" y="3959352"/>
            <a:ext cx="17830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Батырманы толығымен дөңгелектейді — pill shape стилі.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kern="0" spc="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🌍  JAVASCRIPT — ТІЛ АУЫСТЫРУ ЖҮЙЕСІ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11480" y="914400"/>
            <a:ext cx="8321040" cy="41148"/>
          </a:xfrm>
          <a:prstGeom prst="rect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" name="Shape 2"/>
          <p:cNvSpPr/>
          <p:nvPr/>
        </p:nvSpPr>
        <p:spPr>
          <a:xfrm>
            <a:off x="411480" y="1005840"/>
            <a:ext cx="4389120" cy="3749040"/>
          </a:xfrm>
          <a:prstGeom prst="rect">
            <a:avLst/>
          </a:prstGeom>
          <a:solidFill>
            <a:srgbClr val="0A0E14"/>
          </a:solidFill>
          <a:ln w="12700">
            <a:solidFill>
              <a:srgbClr val="00A896"/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5" name="Shape 3"/>
          <p:cNvSpPr/>
          <p:nvPr/>
        </p:nvSpPr>
        <p:spPr>
          <a:xfrm>
            <a:off x="411480" y="1005840"/>
            <a:ext cx="4389120" cy="256032"/>
          </a:xfrm>
          <a:prstGeom prst="rect">
            <a:avLst/>
          </a:prstGeom>
          <a:solidFill>
            <a:srgbClr val="1A2030"/>
          </a:solidFill>
          <a:ln w="12700">
            <a:solidFill>
              <a:srgbClr val="1A203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6" name="Shape 4"/>
          <p:cNvSpPr/>
          <p:nvPr/>
        </p:nvSpPr>
        <p:spPr>
          <a:xfrm>
            <a:off x="530352" y="1069848"/>
            <a:ext cx="118872" cy="118872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7" name="Shape 5"/>
          <p:cNvSpPr/>
          <p:nvPr/>
        </p:nvSpPr>
        <p:spPr>
          <a:xfrm>
            <a:off x="694944" y="1069848"/>
            <a:ext cx="118872" cy="118872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8" name="Shape 6"/>
          <p:cNvSpPr/>
          <p:nvPr/>
        </p:nvSpPr>
        <p:spPr>
          <a:xfrm>
            <a:off x="859536" y="1069848"/>
            <a:ext cx="118872" cy="118872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9" name="Text 7"/>
          <p:cNvSpPr/>
          <p:nvPr/>
        </p:nvSpPr>
        <p:spPr>
          <a:xfrm>
            <a:off x="548640" y="1316736"/>
            <a:ext cx="4133088" cy="32552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Аударма объектісі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T =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en: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DC9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nav_about: 'About',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DC9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hero_title: 'Cody Tech',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DC9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btn_start: 'Start Learning',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ru: { nav_about: 'О нас', ... },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C9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kz: { nav_about: 'Біз туралы'}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Тіл ауыстыру функциясы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setLang(l, btn)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lang = l;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tr = T[l] || {};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C9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document.querySelectorAll(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DC9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'[data-i]'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C9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).forEach(el =&gt;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key=el.getAttribute(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'data-i');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el.textContent = tr[key];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C9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029200" y="1005840"/>
            <a:ext cx="3703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HTML-де data-i атрибуты: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029200" y="1371600"/>
            <a:ext cx="3703320" cy="1417320"/>
          </a:xfrm>
          <a:prstGeom prst="rect">
            <a:avLst/>
          </a:prstGeom>
          <a:solidFill>
            <a:srgbClr val="0A0E14"/>
          </a:solidFill>
          <a:ln w="12700">
            <a:solidFill>
              <a:srgbClr val="00A896"/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2" name="Shape 10"/>
          <p:cNvSpPr/>
          <p:nvPr/>
        </p:nvSpPr>
        <p:spPr>
          <a:xfrm>
            <a:off x="5029200" y="1371600"/>
            <a:ext cx="3703320" cy="256032"/>
          </a:xfrm>
          <a:prstGeom prst="rect">
            <a:avLst/>
          </a:prstGeom>
          <a:solidFill>
            <a:srgbClr val="1A2030"/>
          </a:solidFill>
          <a:ln w="12700">
            <a:solidFill>
              <a:srgbClr val="1A203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3" name="Shape 11"/>
          <p:cNvSpPr/>
          <p:nvPr/>
        </p:nvSpPr>
        <p:spPr>
          <a:xfrm>
            <a:off x="5148072" y="1435608"/>
            <a:ext cx="118872" cy="118872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4" name="Shape 12"/>
          <p:cNvSpPr/>
          <p:nvPr/>
        </p:nvSpPr>
        <p:spPr>
          <a:xfrm>
            <a:off x="5312664" y="1435608"/>
            <a:ext cx="118872" cy="118872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5" name="Shape 13"/>
          <p:cNvSpPr/>
          <p:nvPr/>
        </p:nvSpPr>
        <p:spPr>
          <a:xfrm>
            <a:off x="5477256" y="1435608"/>
            <a:ext cx="118872" cy="118872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6" name="Text 14"/>
          <p:cNvSpPr/>
          <p:nvPr/>
        </p:nvSpPr>
        <p:spPr>
          <a:xfrm>
            <a:off x="5166359" y="1682496"/>
            <a:ext cx="3474721" cy="10149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&lt;h1 data-i='hero_title'&gt;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Cody Tech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&lt;/h1&gt;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C9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&lt;a data-i='nav_about'&gt;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About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C9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&lt;/a&gt;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&lt;!-- EN--&gt;About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&lt;!-- RU--&gt;О нас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&lt;!-- KZ--&gt;Біз туралы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029200" y="2880360"/>
            <a:ext cx="3703320" cy="402336"/>
          </a:xfrm>
          <a:prstGeom prst="rect">
            <a:avLst/>
          </a:prstGeom>
          <a:solidFill>
            <a:srgbClr val="1C2129"/>
          </a:solidFill>
          <a:ln w="12700">
            <a:solidFill>
              <a:srgbClr val="79C0FF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8" name="Shape 16"/>
          <p:cNvSpPr/>
          <p:nvPr/>
        </p:nvSpPr>
        <p:spPr>
          <a:xfrm>
            <a:off x="5029200" y="2944368"/>
            <a:ext cx="256032" cy="256032"/>
          </a:xfrm>
          <a:prstGeom prst="ellipse">
            <a:avLst/>
          </a:prstGeom>
          <a:solidFill>
            <a:srgbClr val="79C0FF"/>
          </a:solidFill>
          <a:ln w="12700">
            <a:solidFill>
              <a:srgbClr val="79C0FF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9" name="Text 17"/>
          <p:cNvSpPr/>
          <p:nvPr/>
        </p:nvSpPr>
        <p:spPr>
          <a:xfrm>
            <a:off x="5029200" y="295351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11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349240" y="292608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объектісі 3 тілдің аудармасын сақтайды — en, ru, kz кілттерімен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029200" y="3337560"/>
            <a:ext cx="3703320" cy="402336"/>
          </a:xfrm>
          <a:prstGeom prst="rect">
            <a:avLst/>
          </a:prstGeom>
          <a:solidFill>
            <a:srgbClr val="1C2129"/>
          </a:solidFill>
          <a:ln w="12700">
            <a:solidFill>
              <a:srgbClr val="3DC97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2" name="Shape 20"/>
          <p:cNvSpPr/>
          <p:nvPr/>
        </p:nvSpPr>
        <p:spPr>
          <a:xfrm>
            <a:off x="5029200" y="3401568"/>
            <a:ext cx="256032" cy="256032"/>
          </a:xfrm>
          <a:prstGeom prst="ellipse">
            <a:avLst/>
          </a:prstGeom>
          <a:solidFill>
            <a:srgbClr val="3DC97A"/>
          </a:solidFill>
          <a:ln w="12700">
            <a:solidFill>
              <a:srgbClr val="3DC97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3" name="Text 21"/>
          <p:cNvSpPr/>
          <p:nvPr/>
        </p:nvSpPr>
        <p:spPr>
          <a:xfrm>
            <a:off x="5029200" y="341071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11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349240" y="338328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HTML-де data-i='кілт' атрибуты қойылады — setLang осы кілтті тауып ауыстырады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029200" y="3794760"/>
            <a:ext cx="3703320" cy="402336"/>
          </a:xfrm>
          <a:prstGeom prst="rect">
            <a:avLst/>
          </a:prstGeom>
          <a:solidFill>
            <a:srgbClr val="1C2129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6" name="Shape 24"/>
          <p:cNvSpPr/>
          <p:nvPr/>
        </p:nvSpPr>
        <p:spPr>
          <a:xfrm>
            <a:off x="5029200" y="3858768"/>
            <a:ext cx="256032" cy="256032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7" name="Text 25"/>
          <p:cNvSpPr/>
          <p:nvPr/>
        </p:nvSpPr>
        <p:spPr>
          <a:xfrm>
            <a:off x="5029200" y="386791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11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349240" y="384048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querySelectorAll('[data-i]') — беттегі барлық аударылатын элементті табады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029200" y="4251960"/>
            <a:ext cx="3703320" cy="402336"/>
          </a:xfrm>
          <a:prstGeom prst="rect">
            <a:avLst/>
          </a:prstGeom>
          <a:solidFill>
            <a:srgbClr val="1C2129"/>
          </a:solidFill>
          <a:ln w="12700">
            <a:solidFill>
              <a:srgbClr val="F7DF1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0" name="Shape 28"/>
          <p:cNvSpPr/>
          <p:nvPr/>
        </p:nvSpPr>
        <p:spPr>
          <a:xfrm>
            <a:off x="5029200" y="4315968"/>
            <a:ext cx="256032" cy="256032"/>
          </a:xfrm>
          <a:prstGeom prst="ellipse">
            <a:avLst/>
          </a:prstGeom>
          <a:solidFill>
            <a:srgbClr val="F7DF1E"/>
          </a:solidFill>
          <a:ln w="12700">
            <a:solidFill>
              <a:srgbClr val="F7DF1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1" name="Text 29"/>
          <p:cNvSpPr/>
          <p:nvPr/>
        </p:nvSpPr>
        <p:spPr>
          <a:xfrm>
            <a:off x="5029200" y="432511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11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349240" y="429768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el.textContent = tr[key] — элементтің мәтінін аударма нұсқасымен ауыстырады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kern="0" spc="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🔐  JAVASCRIPT — АВТОРИЗАЦИЯ (localStorage)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11480" y="914400"/>
            <a:ext cx="8321040" cy="41148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" name="Shape 2"/>
          <p:cNvSpPr/>
          <p:nvPr/>
        </p:nvSpPr>
        <p:spPr>
          <a:xfrm>
            <a:off x="411480" y="1005840"/>
            <a:ext cx="4434840" cy="3749040"/>
          </a:xfrm>
          <a:prstGeom prst="rect">
            <a:avLst/>
          </a:prstGeom>
          <a:solidFill>
            <a:srgbClr val="0A0E14"/>
          </a:solidFill>
          <a:ln w="12700">
            <a:solidFill>
              <a:srgbClr val="00A896"/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5" name="Shape 3"/>
          <p:cNvSpPr/>
          <p:nvPr/>
        </p:nvSpPr>
        <p:spPr>
          <a:xfrm>
            <a:off x="411480" y="1005840"/>
            <a:ext cx="4434840" cy="256032"/>
          </a:xfrm>
          <a:prstGeom prst="rect">
            <a:avLst/>
          </a:prstGeom>
          <a:solidFill>
            <a:srgbClr val="1A2030"/>
          </a:solidFill>
          <a:ln w="12700">
            <a:solidFill>
              <a:srgbClr val="1A203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6" name="Shape 4"/>
          <p:cNvSpPr/>
          <p:nvPr/>
        </p:nvSpPr>
        <p:spPr>
          <a:xfrm>
            <a:off x="530352" y="1069848"/>
            <a:ext cx="118872" cy="118872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7" name="Shape 5"/>
          <p:cNvSpPr/>
          <p:nvPr/>
        </p:nvSpPr>
        <p:spPr>
          <a:xfrm>
            <a:off x="694944" y="1069848"/>
            <a:ext cx="118872" cy="118872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8" name="Shape 6"/>
          <p:cNvSpPr/>
          <p:nvPr/>
        </p:nvSpPr>
        <p:spPr>
          <a:xfrm>
            <a:off x="859536" y="1069848"/>
            <a:ext cx="118872" cy="118872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9" name="Text 7"/>
          <p:cNvSpPr/>
          <p:nvPr/>
        </p:nvSpPr>
        <p:spPr>
          <a:xfrm>
            <a:off x="548640" y="1316736"/>
            <a:ext cx="4178808" cy="33467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Кіру функциясы (login.html)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doLogin()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u = input('username');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p = input('password');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Тексеру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saved =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DC9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localStorage.getItem(u);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(saved === p)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C9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localStorage.setItem(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DC9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'cody_user', u);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→ index.html бет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Аутентификацияны тексеру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checkAuth()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user =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C9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localStorage.getItem(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DC9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'cody_user');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(user)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Avatar көрсет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 else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Login сілтеме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74920" y="100584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Авторизация процесі: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074920" y="1417320"/>
            <a:ext cx="3657600" cy="438912"/>
          </a:xfrm>
          <a:prstGeom prst="rect">
            <a:avLst/>
          </a:prstGeom>
          <a:solidFill>
            <a:srgbClr val="1C2129"/>
          </a:solidFill>
          <a:ln w="12700">
            <a:solidFill>
              <a:srgbClr val="F7DF1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2" name="Shape 10"/>
          <p:cNvSpPr/>
          <p:nvPr/>
        </p:nvSpPr>
        <p:spPr>
          <a:xfrm>
            <a:off x="5074920" y="1490472"/>
            <a:ext cx="274320" cy="274320"/>
          </a:xfrm>
          <a:prstGeom prst="ellipse">
            <a:avLst/>
          </a:prstGeom>
          <a:solidFill>
            <a:srgbClr val="F7DF1E"/>
          </a:solidFill>
          <a:ln w="12700">
            <a:solidFill>
              <a:srgbClr val="F7DF1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3" name="Text 11"/>
          <p:cNvSpPr/>
          <p:nvPr/>
        </p:nvSpPr>
        <p:spPr>
          <a:xfrm>
            <a:off x="5074920" y="149961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11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212080" y="1856232"/>
            <a:ext cx="0" cy="64008"/>
          </a:xfrm>
          <a:prstGeom prst="line">
            <a:avLst/>
          </a:prstGeom>
          <a:noFill/>
          <a:ln w="12700">
            <a:solidFill>
              <a:srgbClr val="F7DF1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5" name="Text 13"/>
          <p:cNvSpPr/>
          <p:nvPr/>
        </p:nvSpPr>
        <p:spPr>
          <a:xfrm>
            <a:off x="5394960" y="1499616"/>
            <a:ext cx="3246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Пайдаланушы форм толтырады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074920" y="1920240"/>
            <a:ext cx="3657600" cy="438912"/>
          </a:xfrm>
          <a:prstGeom prst="rect">
            <a:avLst/>
          </a:prstGeom>
          <a:solidFill>
            <a:srgbClr val="1C2129"/>
          </a:solidFill>
          <a:ln w="12700">
            <a:solidFill>
              <a:srgbClr val="79C0FF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7" name="Shape 15"/>
          <p:cNvSpPr/>
          <p:nvPr/>
        </p:nvSpPr>
        <p:spPr>
          <a:xfrm>
            <a:off x="5074920" y="1993392"/>
            <a:ext cx="274320" cy="274320"/>
          </a:xfrm>
          <a:prstGeom prst="ellipse">
            <a:avLst/>
          </a:prstGeom>
          <a:solidFill>
            <a:srgbClr val="79C0FF"/>
          </a:solidFill>
          <a:ln w="12700">
            <a:solidFill>
              <a:srgbClr val="79C0FF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8" name="Text 16"/>
          <p:cNvSpPr/>
          <p:nvPr/>
        </p:nvSpPr>
        <p:spPr>
          <a:xfrm>
            <a:off x="5074920" y="200253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11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212080" y="2359152"/>
            <a:ext cx="0" cy="64008"/>
          </a:xfrm>
          <a:prstGeom prst="line">
            <a:avLst/>
          </a:prstGeom>
          <a:noFill/>
          <a:ln w="12700">
            <a:solidFill>
              <a:srgbClr val="79C0FF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0" name="Text 18"/>
          <p:cNvSpPr/>
          <p:nvPr/>
        </p:nvSpPr>
        <p:spPr>
          <a:xfrm>
            <a:off x="5394960" y="2002536"/>
            <a:ext cx="3246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doLogin() / doRegister() шақырылады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074920" y="2423160"/>
            <a:ext cx="3657600" cy="438912"/>
          </a:xfrm>
          <a:prstGeom prst="rect">
            <a:avLst/>
          </a:prstGeom>
          <a:solidFill>
            <a:srgbClr val="1C2129"/>
          </a:solidFill>
          <a:ln w="12700">
            <a:solidFill>
              <a:srgbClr val="3DC97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2" name="Shape 20"/>
          <p:cNvSpPr/>
          <p:nvPr/>
        </p:nvSpPr>
        <p:spPr>
          <a:xfrm>
            <a:off x="5074920" y="2496312"/>
            <a:ext cx="274320" cy="274320"/>
          </a:xfrm>
          <a:prstGeom prst="ellipse">
            <a:avLst/>
          </a:prstGeom>
          <a:solidFill>
            <a:srgbClr val="3DC97A"/>
          </a:solidFill>
          <a:ln w="12700">
            <a:solidFill>
              <a:srgbClr val="3DC97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3" name="Text 21"/>
          <p:cNvSpPr/>
          <p:nvPr/>
        </p:nvSpPr>
        <p:spPr>
          <a:xfrm>
            <a:off x="5074920" y="250545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11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212080" y="2862072"/>
            <a:ext cx="0" cy="64008"/>
          </a:xfrm>
          <a:prstGeom prst="line">
            <a:avLst/>
          </a:prstGeom>
          <a:noFill/>
          <a:ln w="12700">
            <a:solidFill>
              <a:srgbClr val="3DC97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5" name="Text 23"/>
          <p:cNvSpPr/>
          <p:nvPr/>
        </p:nvSpPr>
        <p:spPr>
          <a:xfrm>
            <a:off x="5394960" y="2505456"/>
            <a:ext cx="3246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localStorage-та email:password сақталады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074920" y="2926080"/>
            <a:ext cx="3657600" cy="438912"/>
          </a:xfrm>
          <a:prstGeom prst="rect">
            <a:avLst/>
          </a:prstGeom>
          <a:solidFill>
            <a:srgbClr val="1C2129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7" name="Shape 25"/>
          <p:cNvSpPr/>
          <p:nvPr/>
        </p:nvSpPr>
        <p:spPr>
          <a:xfrm>
            <a:off x="5074920" y="2999232"/>
            <a:ext cx="274320" cy="274320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8" name="Text 26"/>
          <p:cNvSpPr/>
          <p:nvPr/>
        </p:nvSpPr>
        <p:spPr>
          <a:xfrm>
            <a:off x="5074920" y="300837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11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212080" y="3364992"/>
            <a:ext cx="0" cy="64008"/>
          </a:xfrm>
          <a:prstGeom prst="line">
            <a:avLst/>
          </a:prstGeom>
          <a:noFill/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0" name="Text 28"/>
          <p:cNvSpPr/>
          <p:nvPr/>
        </p:nvSpPr>
        <p:spPr>
          <a:xfrm>
            <a:off x="5394960" y="3008376"/>
            <a:ext cx="3246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cody_user кілтіне аты жазылады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5074920" y="3429000"/>
            <a:ext cx="3657600" cy="438912"/>
          </a:xfrm>
          <a:prstGeom prst="rect">
            <a:avLst/>
          </a:prstGeom>
          <a:solidFill>
            <a:srgbClr val="1C2129"/>
          </a:solidFill>
          <a:ln w="12700">
            <a:solidFill>
              <a:srgbClr val="F0883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2" name="Shape 30"/>
          <p:cNvSpPr/>
          <p:nvPr/>
        </p:nvSpPr>
        <p:spPr>
          <a:xfrm>
            <a:off x="5074920" y="3502152"/>
            <a:ext cx="274320" cy="274320"/>
          </a:xfrm>
          <a:prstGeom prst="ellipse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3" name="Text 31"/>
          <p:cNvSpPr/>
          <p:nvPr/>
        </p:nvSpPr>
        <p:spPr>
          <a:xfrm>
            <a:off x="5074920" y="351129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11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212080" y="3867912"/>
            <a:ext cx="0" cy="64008"/>
          </a:xfrm>
          <a:prstGeom prst="line">
            <a:avLst/>
          </a:prstGeom>
          <a:noFill/>
          <a:ln w="12700">
            <a:solidFill>
              <a:srgbClr val="F0883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5" name="Text 33"/>
          <p:cNvSpPr/>
          <p:nvPr/>
        </p:nvSpPr>
        <p:spPr>
          <a:xfrm>
            <a:off x="5394960" y="3511296"/>
            <a:ext cx="3246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checkAuth() — кіргенін тексереді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074920" y="3931920"/>
            <a:ext cx="3657600" cy="438912"/>
          </a:xfrm>
          <a:prstGeom prst="rect">
            <a:avLst/>
          </a:prstGeom>
          <a:solidFill>
            <a:srgbClr val="1C2129"/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7" name="Shape 35"/>
          <p:cNvSpPr/>
          <p:nvPr/>
        </p:nvSpPr>
        <p:spPr>
          <a:xfrm>
            <a:off x="5074920" y="4005072"/>
            <a:ext cx="274320" cy="274320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8" name="Text 36"/>
          <p:cNvSpPr/>
          <p:nvPr/>
        </p:nvSpPr>
        <p:spPr>
          <a:xfrm>
            <a:off x="5074920" y="401421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11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5212080" y="4370832"/>
            <a:ext cx="0" cy="64008"/>
          </a:xfrm>
          <a:prstGeom prst="line">
            <a:avLst/>
          </a:prstGeom>
          <a:noFill/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0" name="Text 38"/>
          <p:cNvSpPr/>
          <p:nvPr/>
        </p:nvSpPr>
        <p:spPr>
          <a:xfrm>
            <a:off x="5394960" y="4014216"/>
            <a:ext cx="3246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Avatar көрсетіледі / Login жасырылады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5074920" y="4434840"/>
            <a:ext cx="3657600" cy="438912"/>
          </a:xfrm>
          <a:prstGeom prst="rect">
            <a:avLst/>
          </a:prstGeom>
          <a:solidFill>
            <a:srgbClr val="1C2129"/>
          </a:solidFill>
          <a:ln w="12700">
            <a:solidFill>
              <a:srgbClr val="8B949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2" name="Shape 40"/>
          <p:cNvSpPr/>
          <p:nvPr/>
        </p:nvSpPr>
        <p:spPr>
          <a:xfrm>
            <a:off x="5074920" y="4507992"/>
            <a:ext cx="274320" cy="274320"/>
          </a:xfrm>
          <a:prstGeom prst="ellipse">
            <a:avLst/>
          </a:prstGeom>
          <a:solidFill>
            <a:srgbClr val="8B949E"/>
          </a:solidFill>
          <a:ln w="12700">
            <a:solidFill>
              <a:srgbClr val="8B949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3" name="Text 41"/>
          <p:cNvSpPr/>
          <p:nvPr/>
        </p:nvSpPr>
        <p:spPr>
          <a:xfrm>
            <a:off x="5074920" y="451713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11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394960" y="4517136"/>
            <a:ext cx="3246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doLogout() — cody_user өшіреді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kern="0" spc="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🔭  JAVASCRIPT — SCROLL ЭФФЕКТІЛЕРІ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11480" y="914400"/>
            <a:ext cx="8321040" cy="41148"/>
          </a:xfrm>
          <a:prstGeom prst="rect">
            <a:avLst/>
          </a:prstGeom>
          <a:solidFill>
            <a:srgbClr val="A97BFF"/>
          </a:solidFill>
          <a:ln w="12700">
            <a:solidFill>
              <a:srgbClr val="A97BFF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" name="Shape 2"/>
          <p:cNvSpPr/>
          <p:nvPr/>
        </p:nvSpPr>
        <p:spPr>
          <a:xfrm>
            <a:off x="411480" y="1005840"/>
            <a:ext cx="4297680" cy="3749040"/>
          </a:xfrm>
          <a:prstGeom prst="rect">
            <a:avLst/>
          </a:prstGeom>
          <a:solidFill>
            <a:srgbClr val="0A0E14"/>
          </a:solidFill>
          <a:ln w="12700">
            <a:solidFill>
              <a:srgbClr val="00A896"/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5" name="Shape 3"/>
          <p:cNvSpPr/>
          <p:nvPr/>
        </p:nvSpPr>
        <p:spPr>
          <a:xfrm>
            <a:off x="411480" y="1005840"/>
            <a:ext cx="4297680" cy="256032"/>
          </a:xfrm>
          <a:prstGeom prst="rect">
            <a:avLst/>
          </a:prstGeom>
          <a:solidFill>
            <a:srgbClr val="1A2030"/>
          </a:solidFill>
          <a:ln w="12700">
            <a:solidFill>
              <a:srgbClr val="1A203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6" name="Shape 4"/>
          <p:cNvSpPr/>
          <p:nvPr/>
        </p:nvSpPr>
        <p:spPr>
          <a:xfrm>
            <a:off x="530352" y="1069848"/>
            <a:ext cx="118872" cy="118872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7" name="Shape 5"/>
          <p:cNvSpPr/>
          <p:nvPr/>
        </p:nvSpPr>
        <p:spPr>
          <a:xfrm>
            <a:off x="694944" y="1069848"/>
            <a:ext cx="118872" cy="118872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8" name="Shape 6"/>
          <p:cNvSpPr/>
          <p:nvPr/>
        </p:nvSpPr>
        <p:spPr>
          <a:xfrm>
            <a:off x="859536" y="1069848"/>
            <a:ext cx="118872" cy="118872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9" name="Text 7"/>
          <p:cNvSpPr/>
          <p:nvPr/>
        </p:nvSpPr>
        <p:spPr>
          <a:xfrm>
            <a:off x="548640" y="1316736"/>
            <a:ext cx="4041648" cy="33467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1. Navbar scroll-да қараяды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window.addEventListener('scroll',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function()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nav =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C9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document.querySelector('.navbar');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(window.scrollY &gt; 50)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nav.style.background =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DC9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'rgba(0,0,0,0.95)';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 else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nav.style.background =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'rgba(0,0,0,0.8)';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2. Бөлімдер пайда болу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observer =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C9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new IntersectionObserver(entries=&gt;{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entries.forEach(entry =&gt;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if (entry.isIntersecting)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DC9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entry.target.style.opacity=1;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entry.target.style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.transform='translateY(0)';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}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C9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});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892040" y="1005840"/>
            <a:ext cx="1920240" cy="1143000"/>
          </a:xfrm>
          <a:prstGeom prst="rect">
            <a:avLst/>
          </a:prstGeom>
          <a:solidFill>
            <a:srgbClr val="1C2129"/>
          </a:solidFill>
          <a:ln w="12700">
            <a:solidFill>
              <a:srgbClr val="79C0FF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1" name="Shape 9"/>
          <p:cNvSpPr/>
          <p:nvPr/>
        </p:nvSpPr>
        <p:spPr>
          <a:xfrm>
            <a:off x="4892040" y="1005840"/>
            <a:ext cx="1920240" cy="45720"/>
          </a:xfrm>
          <a:prstGeom prst="rect">
            <a:avLst/>
          </a:prstGeom>
          <a:solidFill>
            <a:srgbClr val="79C0FF"/>
          </a:solidFill>
          <a:ln w="12700">
            <a:solidFill>
              <a:srgbClr val="79C0FF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2" name="Text 10"/>
          <p:cNvSpPr/>
          <p:nvPr/>
        </p:nvSpPr>
        <p:spPr>
          <a:xfrm>
            <a:off x="4983480" y="1097280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window.scrollY &gt; 50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983480" y="1481328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Пайдаланушы 50px айналдырса navbar фоны қоюланады — 0.8 → 0.95 мөлдірлік.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903720" y="1005840"/>
            <a:ext cx="1920240" cy="1143000"/>
          </a:xfrm>
          <a:prstGeom prst="rect">
            <a:avLst/>
          </a:prstGeom>
          <a:solidFill>
            <a:srgbClr val="1C2129"/>
          </a:solidFill>
          <a:ln w="12700">
            <a:solidFill>
              <a:srgbClr val="A97BFF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5" name="Shape 13"/>
          <p:cNvSpPr/>
          <p:nvPr/>
        </p:nvSpPr>
        <p:spPr>
          <a:xfrm>
            <a:off x="6903720" y="1005840"/>
            <a:ext cx="1920240" cy="45720"/>
          </a:xfrm>
          <a:prstGeom prst="rect">
            <a:avLst/>
          </a:prstGeom>
          <a:solidFill>
            <a:srgbClr val="A97BFF"/>
          </a:solidFill>
          <a:ln w="12700">
            <a:solidFill>
              <a:srgbClr val="A97BFF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6" name="Text 14"/>
          <p:cNvSpPr/>
          <p:nvPr/>
        </p:nvSpPr>
        <p:spPr>
          <a:xfrm>
            <a:off x="6995160" y="1097280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A97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IntersectionObserver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995160" y="1481328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Браузердің заманауи API-і. Элемент экранда пайда болғанда хабар береді.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892040" y="2267712"/>
            <a:ext cx="1920240" cy="1143000"/>
          </a:xfrm>
          <a:prstGeom prst="rect">
            <a:avLst/>
          </a:prstGeom>
          <a:solidFill>
            <a:srgbClr val="1C2129"/>
          </a:solidFill>
          <a:ln w="12700">
            <a:solidFill>
              <a:srgbClr val="3DC97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9" name="Shape 17"/>
          <p:cNvSpPr/>
          <p:nvPr/>
        </p:nvSpPr>
        <p:spPr>
          <a:xfrm>
            <a:off x="4892040" y="2267712"/>
            <a:ext cx="1920240" cy="45720"/>
          </a:xfrm>
          <a:prstGeom prst="rect">
            <a:avLst/>
          </a:prstGeom>
          <a:solidFill>
            <a:srgbClr val="3DC97A"/>
          </a:solidFill>
          <a:ln w="12700">
            <a:solidFill>
              <a:srgbClr val="3DC97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0" name="Text 18"/>
          <p:cNvSpPr/>
          <p:nvPr/>
        </p:nvSpPr>
        <p:spPr>
          <a:xfrm>
            <a:off x="4983480" y="2359152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DC9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entry.isIntersecting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983480" y="2743200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болса — элемент экранда. Сонда анимацияны іске қосамыз.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903720" y="2267712"/>
            <a:ext cx="1920240" cy="1143000"/>
          </a:xfrm>
          <a:prstGeom prst="rect">
            <a:avLst/>
          </a:prstGeom>
          <a:solidFill>
            <a:srgbClr val="1C2129"/>
          </a:solidFill>
          <a:ln w="12700">
            <a:solidFill>
              <a:srgbClr val="F0883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3" name="Shape 21"/>
          <p:cNvSpPr/>
          <p:nvPr/>
        </p:nvSpPr>
        <p:spPr>
          <a:xfrm>
            <a:off x="6903720" y="2267712"/>
            <a:ext cx="1920240" cy="45720"/>
          </a:xfrm>
          <a:prstGeom prst="rect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4" name="Text 22"/>
          <p:cNvSpPr/>
          <p:nvPr/>
        </p:nvSpPr>
        <p:spPr>
          <a:xfrm>
            <a:off x="6995160" y="2359152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088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opacity: 0 → 1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995160" y="2743200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Бөлімдер бастапқыда көрінбейді, экранға жеткенде пайда болады.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892040" y="3529584"/>
            <a:ext cx="1920240" cy="1143000"/>
          </a:xfrm>
          <a:prstGeom prst="rect">
            <a:avLst/>
          </a:prstGeom>
          <a:solidFill>
            <a:srgbClr val="1C2129"/>
          </a:solidFill>
          <a:ln w="12700">
            <a:solidFill>
              <a:srgbClr val="F7DF1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7" name="Shape 25"/>
          <p:cNvSpPr/>
          <p:nvPr/>
        </p:nvSpPr>
        <p:spPr>
          <a:xfrm>
            <a:off x="4892040" y="3529584"/>
            <a:ext cx="1920240" cy="45720"/>
          </a:xfrm>
          <a:prstGeom prst="rect">
            <a:avLst/>
          </a:prstGeom>
          <a:solidFill>
            <a:srgbClr val="F7DF1E"/>
          </a:solidFill>
          <a:ln w="12700">
            <a:solidFill>
              <a:srgbClr val="F7DF1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8" name="Text 26"/>
          <p:cNvSpPr/>
          <p:nvPr/>
        </p:nvSpPr>
        <p:spPr>
          <a:xfrm>
            <a:off x="4983480" y="3621024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translateY(50px) → (0)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983480" y="4005072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Бөлімдер 50px төменнен жоғары сырғып шығады — fade-in + slide-up.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903720" y="3529584"/>
            <a:ext cx="1920240" cy="1143000"/>
          </a:xfrm>
          <a:prstGeom prst="rect">
            <a:avLst/>
          </a:prstGeom>
          <a:solidFill>
            <a:srgbClr val="1C2129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1" name="Shape 29"/>
          <p:cNvSpPr/>
          <p:nvPr/>
        </p:nvSpPr>
        <p:spPr>
          <a:xfrm>
            <a:off x="6903720" y="3529584"/>
            <a:ext cx="1920240" cy="4572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2" name="Text 30"/>
          <p:cNvSpPr/>
          <p:nvPr/>
        </p:nvSpPr>
        <p:spPr>
          <a:xfrm>
            <a:off x="6995160" y="3621024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9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transition: all 0.8s ease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995160" y="4005072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Анимация 0.8 секундта орындалады, ease — баяулатып аяқтайды.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kern="0" spc="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📚  КУРСТАР КАТАЛОГЫ — ФИЛЬТР ЖҮЙЕСІ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11480" y="914400"/>
            <a:ext cx="8321040" cy="41148"/>
          </a:xfrm>
          <a:prstGeom prst="rect">
            <a:avLst/>
          </a:prstGeom>
          <a:solidFill>
            <a:srgbClr val="79C0FF"/>
          </a:solidFill>
          <a:ln w="12700">
            <a:solidFill>
              <a:srgbClr val="79C0FF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" name="Shape 2"/>
          <p:cNvSpPr/>
          <p:nvPr/>
        </p:nvSpPr>
        <p:spPr>
          <a:xfrm>
            <a:off x="411480" y="1005840"/>
            <a:ext cx="4389120" cy="3749040"/>
          </a:xfrm>
          <a:prstGeom prst="rect">
            <a:avLst/>
          </a:prstGeom>
          <a:solidFill>
            <a:srgbClr val="0A0E14"/>
          </a:solidFill>
          <a:ln w="12700">
            <a:solidFill>
              <a:srgbClr val="00A896"/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5" name="Shape 3"/>
          <p:cNvSpPr/>
          <p:nvPr/>
        </p:nvSpPr>
        <p:spPr>
          <a:xfrm>
            <a:off x="411480" y="1005840"/>
            <a:ext cx="4389120" cy="256032"/>
          </a:xfrm>
          <a:prstGeom prst="rect">
            <a:avLst/>
          </a:prstGeom>
          <a:solidFill>
            <a:srgbClr val="1A2030"/>
          </a:solidFill>
          <a:ln w="12700">
            <a:solidFill>
              <a:srgbClr val="1A203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6" name="Shape 4"/>
          <p:cNvSpPr/>
          <p:nvPr/>
        </p:nvSpPr>
        <p:spPr>
          <a:xfrm>
            <a:off x="530352" y="1069848"/>
            <a:ext cx="118872" cy="118872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7" name="Shape 5"/>
          <p:cNvSpPr/>
          <p:nvPr/>
        </p:nvSpPr>
        <p:spPr>
          <a:xfrm>
            <a:off x="694944" y="1069848"/>
            <a:ext cx="118872" cy="118872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8" name="Shape 6"/>
          <p:cNvSpPr/>
          <p:nvPr/>
        </p:nvSpPr>
        <p:spPr>
          <a:xfrm>
            <a:off x="859536" y="1069848"/>
            <a:ext cx="118872" cy="118872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9" name="Text 7"/>
          <p:cNvSpPr/>
          <p:nvPr/>
        </p:nvSpPr>
        <p:spPr>
          <a:xfrm>
            <a:off x="548640" y="1316736"/>
            <a:ext cx="4133088" cy="33467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&lt;!-- HTML: Карточка data-cat-пен --&gt;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&lt;div class='ref-card'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DC9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data-cat='web backend'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style='--c: #f7df1e'&gt;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C9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&lt;div class='c-name'&gt;JavaScript&lt;/div&gt;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&lt;p&gt;...&lt;/p&gt;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&lt;/div&gt;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&lt;!-- Фильтр батырмалары --&gt;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088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&lt;button onclick=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DC9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'doFilter("web", this)'&gt;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Web&lt;/button&gt;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JS: Фильтр функциясы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doFilter(cat, btn)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батырма active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C9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btn.classList.add('active');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карточкаларды тексер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document.querySelectorAll(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DC9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'.ref-card'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).forEach(c =&gt;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c.classList.toggle('hidden',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cat!=='all' &amp;&amp;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C9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!c.dataset.cat.includes(cat)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0" y="1005840"/>
            <a:ext cx="3703320" cy="530352"/>
          </a:xfrm>
          <a:prstGeom prst="rect">
            <a:avLst/>
          </a:prstGeom>
          <a:solidFill>
            <a:srgbClr val="1C2129"/>
          </a:solidFill>
          <a:ln w="12700">
            <a:solidFill>
              <a:srgbClr val="3DC97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1" name="Shape 9"/>
          <p:cNvSpPr/>
          <p:nvPr/>
        </p:nvSpPr>
        <p:spPr>
          <a:xfrm>
            <a:off x="5029200" y="1005840"/>
            <a:ext cx="50292" cy="530352"/>
          </a:xfrm>
          <a:prstGeom prst="rect">
            <a:avLst/>
          </a:prstGeom>
          <a:solidFill>
            <a:srgbClr val="3DC97A"/>
          </a:solidFill>
          <a:ln w="12700">
            <a:solidFill>
              <a:srgbClr val="3DC97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2" name="Text 10"/>
          <p:cNvSpPr/>
          <p:nvPr/>
        </p:nvSpPr>
        <p:spPr>
          <a:xfrm>
            <a:off x="5166360" y="1042416"/>
            <a:ext cx="347472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DC9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data-cat='web backend'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166360" y="1280160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Карточканың санаттары — бос орынмен бөлінген. Бір карточка бірнеше санатта болуы мүмкін.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029200" y="1609344"/>
            <a:ext cx="3703320" cy="530352"/>
          </a:xfrm>
          <a:prstGeom prst="rect">
            <a:avLst/>
          </a:prstGeom>
          <a:solidFill>
            <a:srgbClr val="1C2129"/>
          </a:solidFill>
          <a:ln w="12700">
            <a:solidFill>
              <a:srgbClr val="F7DF1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5" name="Shape 13"/>
          <p:cNvSpPr/>
          <p:nvPr/>
        </p:nvSpPr>
        <p:spPr>
          <a:xfrm>
            <a:off x="5029200" y="1609344"/>
            <a:ext cx="50292" cy="530352"/>
          </a:xfrm>
          <a:prstGeom prst="rect">
            <a:avLst/>
          </a:prstGeom>
          <a:solidFill>
            <a:srgbClr val="F7DF1E"/>
          </a:solidFill>
          <a:ln w="12700">
            <a:solidFill>
              <a:srgbClr val="F7DF1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6" name="Text 14"/>
          <p:cNvSpPr/>
          <p:nvPr/>
        </p:nvSpPr>
        <p:spPr>
          <a:xfrm>
            <a:off x="5166360" y="1645920"/>
            <a:ext cx="347472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style='--c: #f7df1e'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166360" y="1883664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айнымалысы — тілдің өз брендтік түсін карточкаға береді (JS жолағы, логотип т.б.)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029200" y="2212848"/>
            <a:ext cx="3703320" cy="530352"/>
          </a:xfrm>
          <a:prstGeom prst="rect">
            <a:avLst/>
          </a:prstGeom>
          <a:solidFill>
            <a:srgbClr val="1C2129"/>
          </a:solidFill>
          <a:ln w="12700">
            <a:solidFill>
              <a:srgbClr val="79C0FF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9" name="Shape 17"/>
          <p:cNvSpPr/>
          <p:nvPr/>
        </p:nvSpPr>
        <p:spPr>
          <a:xfrm>
            <a:off x="5029200" y="2212848"/>
            <a:ext cx="50292" cy="530352"/>
          </a:xfrm>
          <a:prstGeom prst="rect">
            <a:avLst/>
          </a:prstGeom>
          <a:solidFill>
            <a:srgbClr val="79C0FF"/>
          </a:solidFill>
          <a:ln w="12700">
            <a:solidFill>
              <a:srgbClr val="79C0FF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0" name="Text 18"/>
          <p:cNvSpPr/>
          <p:nvPr/>
        </p:nvSpPr>
        <p:spPr>
          <a:xfrm>
            <a:off x="5166360" y="2249424"/>
            <a:ext cx="347472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doFilter('web', this)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166360" y="2487168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cat='web' болса тек web санатындағы карточкалар қалады, қалғандары жасырылады.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029200" y="2816352"/>
            <a:ext cx="3703320" cy="530352"/>
          </a:xfrm>
          <a:prstGeom prst="rect">
            <a:avLst/>
          </a:prstGeom>
          <a:solidFill>
            <a:srgbClr val="1C2129"/>
          </a:solidFill>
          <a:ln w="12700">
            <a:solidFill>
              <a:srgbClr val="F0883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3" name="Shape 21"/>
          <p:cNvSpPr/>
          <p:nvPr/>
        </p:nvSpPr>
        <p:spPr>
          <a:xfrm>
            <a:off x="5029200" y="2816352"/>
            <a:ext cx="50292" cy="530352"/>
          </a:xfrm>
          <a:prstGeom prst="rect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4" name="Text 22"/>
          <p:cNvSpPr/>
          <p:nvPr/>
        </p:nvSpPr>
        <p:spPr>
          <a:xfrm>
            <a:off x="5166360" y="2852928"/>
            <a:ext cx="347472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088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classList.toggle('hidden'...)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166360" y="3090672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toggle(class, condition) — шарт true болса класс қосылады, false — алынады.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029200" y="3419856"/>
            <a:ext cx="3703320" cy="530352"/>
          </a:xfrm>
          <a:prstGeom prst="rect">
            <a:avLst/>
          </a:prstGeom>
          <a:solidFill>
            <a:srgbClr val="1C2129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7" name="Shape 25"/>
          <p:cNvSpPr/>
          <p:nvPr/>
        </p:nvSpPr>
        <p:spPr>
          <a:xfrm>
            <a:off x="5029200" y="3419856"/>
            <a:ext cx="50292" cy="53035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8" name="Text 26"/>
          <p:cNvSpPr/>
          <p:nvPr/>
        </p:nvSpPr>
        <p:spPr>
          <a:xfrm>
            <a:off x="5166360" y="3456432"/>
            <a:ext cx="347472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C9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c.dataset.cat.includes(cat)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166360" y="3694176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Карточканың data-cat мәнінде іздеген санат бар ма деп тексереді.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029200" y="4023360"/>
            <a:ext cx="3703320" cy="530352"/>
          </a:xfrm>
          <a:prstGeom prst="rect">
            <a:avLst/>
          </a:prstGeom>
          <a:solidFill>
            <a:srgbClr val="1C2129"/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1" name="Shape 29"/>
          <p:cNvSpPr/>
          <p:nvPr/>
        </p:nvSpPr>
        <p:spPr>
          <a:xfrm>
            <a:off x="5029200" y="4023360"/>
            <a:ext cx="50292" cy="530352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2" name="Text 30"/>
          <p:cNvSpPr/>
          <p:nvPr/>
        </p:nvSpPr>
        <p:spPr>
          <a:xfrm>
            <a:off x="5166360" y="4059936"/>
            <a:ext cx="347472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.hidden { display: none }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166360" y="4297680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CSS-те .hidden = display:none — элемент жасырылады, DOM-да сақталады.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kern="0" spc="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🔑  LOGIN БЕТІ — КІРу / ТІРКЕЛУ ТАБТАРЫ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11480" y="914400"/>
            <a:ext cx="8321040" cy="41148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" name="Shape 2"/>
          <p:cNvSpPr/>
          <p:nvPr/>
        </p:nvSpPr>
        <p:spPr>
          <a:xfrm>
            <a:off x="411480" y="1005840"/>
            <a:ext cx="4343400" cy="3749040"/>
          </a:xfrm>
          <a:prstGeom prst="rect">
            <a:avLst/>
          </a:prstGeom>
          <a:solidFill>
            <a:srgbClr val="0A0E14"/>
          </a:solidFill>
          <a:ln w="12700">
            <a:solidFill>
              <a:srgbClr val="00A896"/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5" name="Shape 3"/>
          <p:cNvSpPr/>
          <p:nvPr/>
        </p:nvSpPr>
        <p:spPr>
          <a:xfrm>
            <a:off x="411480" y="1005840"/>
            <a:ext cx="4343400" cy="256032"/>
          </a:xfrm>
          <a:prstGeom prst="rect">
            <a:avLst/>
          </a:prstGeom>
          <a:solidFill>
            <a:srgbClr val="1A2030"/>
          </a:solidFill>
          <a:ln w="12700">
            <a:solidFill>
              <a:srgbClr val="1A203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6" name="Shape 4"/>
          <p:cNvSpPr/>
          <p:nvPr/>
        </p:nvSpPr>
        <p:spPr>
          <a:xfrm>
            <a:off x="530352" y="1069848"/>
            <a:ext cx="118872" cy="118872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7" name="Shape 5"/>
          <p:cNvSpPr/>
          <p:nvPr/>
        </p:nvSpPr>
        <p:spPr>
          <a:xfrm>
            <a:off x="694944" y="1069848"/>
            <a:ext cx="118872" cy="118872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8" name="Shape 6"/>
          <p:cNvSpPr/>
          <p:nvPr/>
        </p:nvSpPr>
        <p:spPr>
          <a:xfrm>
            <a:off x="859536" y="1069848"/>
            <a:ext cx="118872" cy="118872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9" name="Text 7"/>
          <p:cNvSpPr/>
          <p:nvPr/>
        </p:nvSpPr>
        <p:spPr>
          <a:xfrm>
            <a:off x="548640" y="1316736"/>
            <a:ext cx="4087368" cy="33467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&lt;!-- Tab батырмалары --&gt;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&lt;div class='tab active'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C9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onclick='switchTab("login")'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data-i='tab_login'&gt;Login&lt;/div&gt;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&lt;div class='tab'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C9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onclick='switchTab("register")'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data-i='tab_reg'&gt;Register&lt;/div&gt;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&lt;!-- Форм блоктары --&gt;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&lt;div id='loginForm'&gt;...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DC9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&lt;div id='regForm'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style='display:none'&gt;...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Tab ауыстыру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switchTab(tab)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document.getElementById(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DC9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'loginForm'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).style.display =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088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tab==='login' ? 'block':'none';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document.getElementById(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C9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'regForm'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).style.display =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088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tab==='register'?'block':'none';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983480" y="1005840"/>
            <a:ext cx="3749040" cy="530352"/>
          </a:xfrm>
          <a:prstGeom prst="rect">
            <a:avLst/>
          </a:prstGeom>
          <a:solidFill>
            <a:srgbClr val="1C2129"/>
          </a:solidFill>
          <a:ln w="12700">
            <a:solidFill>
              <a:srgbClr val="79C0FF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1" name="Shape 9"/>
          <p:cNvSpPr/>
          <p:nvPr/>
        </p:nvSpPr>
        <p:spPr>
          <a:xfrm>
            <a:off x="4983480" y="1005840"/>
            <a:ext cx="50292" cy="530352"/>
          </a:xfrm>
          <a:prstGeom prst="rect">
            <a:avLst/>
          </a:prstGeom>
          <a:solidFill>
            <a:srgbClr val="79C0FF"/>
          </a:solidFill>
          <a:ln w="12700">
            <a:solidFill>
              <a:srgbClr val="79C0FF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2" name="Text 10"/>
          <p:cNvSpPr/>
          <p:nvPr/>
        </p:nvSpPr>
        <p:spPr>
          <a:xfrm>
            <a:off x="5120640" y="1042416"/>
            <a:ext cx="3520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class='tab active'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120640" y="1271016"/>
            <a:ext cx="3520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Белсенді таб — CSS .tab.active = #1100ff синді фон қосылады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983480" y="1609344"/>
            <a:ext cx="3749040" cy="530352"/>
          </a:xfrm>
          <a:prstGeom prst="rect">
            <a:avLst/>
          </a:prstGeom>
          <a:solidFill>
            <a:srgbClr val="1C2129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5" name="Shape 13"/>
          <p:cNvSpPr/>
          <p:nvPr/>
        </p:nvSpPr>
        <p:spPr>
          <a:xfrm>
            <a:off x="4983480" y="1609344"/>
            <a:ext cx="50292" cy="53035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6" name="Text 14"/>
          <p:cNvSpPr/>
          <p:nvPr/>
        </p:nvSpPr>
        <p:spPr>
          <a:xfrm>
            <a:off x="5120640" y="1645920"/>
            <a:ext cx="3520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C9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switchTab('login')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120640" y="1874520"/>
            <a:ext cx="3520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 ауысқанда форм блоктарын display:block/none арқылы басқарады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983480" y="2212848"/>
            <a:ext cx="3749040" cy="530352"/>
          </a:xfrm>
          <a:prstGeom prst="rect">
            <a:avLst/>
          </a:prstGeom>
          <a:solidFill>
            <a:srgbClr val="1C2129"/>
          </a:solidFill>
          <a:ln w="12700">
            <a:solidFill>
              <a:srgbClr val="F7DF1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9" name="Shape 17"/>
          <p:cNvSpPr/>
          <p:nvPr/>
        </p:nvSpPr>
        <p:spPr>
          <a:xfrm>
            <a:off x="4983480" y="2212848"/>
            <a:ext cx="50292" cy="530352"/>
          </a:xfrm>
          <a:prstGeom prst="rect">
            <a:avLst/>
          </a:prstGeom>
          <a:solidFill>
            <a:srgbClr val="F7DF1E"/>
          </a:solidFill>
          <a:ln w="12700">
            <a:solidFill>
              <a:srgbClr val="F7DF1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0" name="Text 18"/>
          <p:cNvSpPr/>
          <p:nvPr/>
        </p:nvSpPr>
        <p:spPr>
          <a:xfrm>
            <a:off x="5120640" y="2249424"/>
            <a:ext cx="3520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ternary: tab==='login'?...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120640" y="2478024"/>
            <a:ext cx="3520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Үш операндты шарт — if/else-тің қысқа нұсқасы бір жолда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983480" y="2816352"/>
            <a:ext cx="3749040" cy="530352"/>
          </a:xfrm>
          <a:prstGeom prst="rect">
            <a:avLst/>
          </a:prstGeom>
          <a:solidFill>
            <a:srgbClr val="1C2129"/>
          </a:solidFill>
          <a:ln w="12700">
            <a:solidFill>
              <a:srgbClr val="3DC97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3" name="Shape 21"/>
          <p:cNvSpPr/>
          <p:nvPr/>
        </p:nvSpPr>
        <p:spPr>
          <a:xfrm>
            <a:off x="4983480" y="2816352"/>
            <a:ext cx="50292" cy="530352"/>
          </a:xfrm>
          <a:prstGeom prst="rect">
            <a:avLst/>
          </a:prstGeom>
          <a:solidFill>
            <a:srgbClr val="3DC97A"/>
          </a:solidFill>
          <a:ln w="12700">
            <a:solidFill>
              <a:srgbClr val="3DC97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4" name="Text 22"/>
          <p:cNvSpPr/>
          <p:nvPr/>
        </p:nvSpPr>
        <p:spPr>
          <a:xfrm>
            <a:off x="5120640" y="2852928"/>
            <a:ext cx="3520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DC9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doRegister()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120640" y="3081528"/>
            <a:ext cx="3520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Аты мен парольді localStorage.setItem(username, password) сақтайды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983480" y="3419856"/>
            <a:ext cx="3749040" cy="530352"/>
          </a:xfrm>
          <a:prstGeom prst="rect">
            <a:avLst/>
          </a:prstGeom>
          <a:solidFill>
            <a:srgbClr val="1C2129"/>
          </a:solidFill>
          <a:ln w="12700">
            <a:solidFill>
              <a:srgbClr val="F0883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7" name="Shape 25"/>
          <p:cNvSpPr/>
          <p:nvPr/>
        </p:nvSpPr>
        <p:spPr>
          <a:xfrm>
            <a:off x="4983480" y="3419856"/>
            <a:ext cx="50292" cy="530352"/>
          </a:xfrm>
          <a:prstGeom prst="rect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8" name="Text 26"/>
          <p:cNvSpPr/>
          <p:nvPr/>
        </p:nvSpPr>
        <p:spPr>
          <a:xfrm>
            <a:off x="5120640" y="3456432"/>
            <a:ext cx="3520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088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doLogin()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120640" y="3685032"/>
            <a:ext cx="3520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localStorage.getItem(u) === p болса кіреді, cody_user сақтайды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983480" y="4023360"/>
            <a:ext cx="3749040" cy="530352"/>
          </a:xfrm>
          <a:prstGeom prst="rect">
            <a:avLst/>
          </a:prstGeom>
          <a:solidFill>
            <a:srgbClr val="1C2129"/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1" name="Shape 29"/>
          <p:cNvSpPr/>
          <p:nvPr/>
        </p:nvSpPr>
        <p:spPr>
          <a:xfrm>
            <a:off x="4983480" y="4023360"/>
            <a:ext cx="50292" cy="530352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2" name="Text 30"/>
          <p:cNvSpPr/>
          <p:nvPr/>
        </p:nvSpPr>
        <p:spPr>
          <a:xfrm>
            <a:off x="5120640" y="4059936"/>
            <a:ext cx="3520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showMsg('loginMsg', text)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120640" y="4288536"/>
            <a:ext cx="3520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Хабарлама блогын id бойынша тауып мәтін мен стиль орнатады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kern="0" spc="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🚀  CSS — HERO БӨЛІМІ МЕН GRID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11480" y="914400"/>
            <a:ext cx="8321040" cy="41148"/>
          </a:xfrm>
          <a:prstGeom prst="rect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" name="Shape 2"/>
          <p:cNvSpPr/>
          <p:nvPr/>
        </p:nvSpPr>
        <p:spPr>
          <a:xfrm>
            <a:off x="411480" y="1005840"/>
            <a:ext cx="4297680" cy="3749040"/>
          </a:xfrm>
          <a:prstGeom prst="rect">
            <a:avLst/>
          </a:prstGeom>
          <a:solidFill>
            <a:srgbClr val="0A0E14"/>
          </a:solidFill>
          <a:ln w="12700">
            <a:solidFill>
              <a:srgbClr val="00A896"/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5" name="Shape 3"/>
          <p:cNvSpPr/>
          <p:nvPr/>
        </p:nvSpPr>
        <p:spPr>
          <a:xfrm>
            <a:off x="411480" y="1005840"/>
            <a:ext cx="4297680" cy="256032"/>
          </a:xfrm>
          <a:prstGeom prst="rect">
            <a:avLst/>
          </a:prstGeom>
          <a:solidFill>
            <a:srgbClr val="1A2030"/>
          </a:solidFill>
          <a:ln w="12700">
            <a:solidFill>
              <a:srgbClr val="1A203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6" name="Shape 4"/>
          <p:cNvSpPr/>
          <p:nvPr/>
        </p:nvSpPr>
        <p:spPr>
          <a:xfrm>
            <a:off x="530352" y="1069848"/>
            <a:ext cx="118872" cy="118872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7" name="Shape 5"/>
          <p:cNvSpPr/>
          <p:nvPr/>
        </p:nvSpPr>
        <p:spPr>
          <a:xfrm>
            <a:off x="694944" y="1069848"/>
            <a:ext cx="118872" cy="118872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8" name="Shape 6"/>
          <p:cNvSpPr/>
          <p:nvPr/>
        </p:nvSpPr>
        <p:spPr>
          <a:xfrm>
            <a:off x="859536" y="1069848"/>
            <a:ext cx="118872" cy="118872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9" name="Text 7"/>
          <p:cNvSpPr/>
          <p:nvPr/>
        </p:nvSpPr>
        <p:spPr>
          <a:xfrm>
            <a:off x="548640" y="1316736"/>
            <a:ext cx="4041648" cy="33467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Hero — басты экран */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.hero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min-height: 100vh;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C9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display: flex;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flex-direction: column;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align-items: center;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justify-content: center;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DC9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background: linear-gradient(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to bottom,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#000000cc, #000000ee),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url('bg.png') center/cover;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3-бағанды карточка grid */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088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.grid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C9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display: grid;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grid-template-columns: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DC9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repeat(3, 1fr);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gap: 20px;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088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.hero h1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DC9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font-size: clamp(2rem,5vw,4rem);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937760" y="1005840"/>
            <a:ext cx="3794760" cy="530352"/>
          </a:xfrm>
          <a:prstGeom prst="rect">
            <a:avLst/>
          </a:prstGeom>
          <a:solidFill>
            <a:srgbClr val="1C2129"/>
          </a:solidFill>
          <a:ln w="12700">
            <a:solidFill>
              <a:srgbClr val="79C0FF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1" name="Shape 9"/>
          <p:cNvSpPr/>
          <p:nvPr/>
        </p:nvSpPr>
        <p:spPr>
          <a:xfrm>
            <a:off x="4937760" y="1005840"/>
            <a:ext cx="50292" cy="530352"/>
          </a:xfrm>
          <a:prstGeom prst="rect">
            <a:avLst/>
          </a:prstGeom>
          <a:solidFill>
            <a:srgbClr val="79C0FF"/>
          </a:solidFill>
          <a:ln w="12700">
            <a:solidFill>
              <a:srgbClr val="79C0FF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2" name="Text 10"/>
          <p:cNvSpPr/>
          <p:nvPr/>
        </p:nvSpPr>
        <p:spPr>
          <a:xfrm>
            <a:off x="5074920" y="1042416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min-height: 100vh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074920" y="1271016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 экранның толық биіктігін алады — 100vh = viewport height 100%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937760" y="1609344"/>
            <a:ext cx="3794760" cy="530352"/>
          </a:xfrm>
          <a:prstGeom prst="rect">
            <a:avLst/>
          </a:prstGeom>
          <a:solidFill>
            <a:srgbClr val="1C2129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5" name="Shape 13"/>
          <p:cNvSpPr/>
          <p:nvPr/>
        </p:nvSpPr>
        <p:spPr>
          <a:xfrm>
            <a:off x="4937760" y="1609344"/>
            <a:ext cx="50292" cy="53035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6" name="Text 14"/>
          <p:cNvSpPr/>
          <p:nvPr/>
        </p:nvSpPr>
        <p:spPr>
          <a:xfrm>
            <a:off x="5074920" y="1645920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C9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display: flex + center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074920" y="1874520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Flexbox арқылы мазмұнды тік және көлденең ортаға орналастырады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937760" y="2212848"/>
            <a:ext cx="3794760" cy="530352"/>
          </a:xfrm>
          <a:prstGeom prst="rect">
            <a:avLst/>
          </a:prstGeom>
          <a:solidFill>
            <a:srgbClr val="1C2129"/>
          </a:solidFill>
          <a:ln w="12700">
            <a:solidFill>
              <a:srgbClr val="3DC97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9" name="Shape 17"/>
          <p:cNvSpPr/>
          <p:nvPr/>
        </p:nvSpPr>
        <p:spPr>
          <a:xfrm>
            <a:off x="4937760" y="2212848"/>
            <a:ext cx="50292" cy="530352"/>
          </a:xfrm>
          <a:prstGeom prst="rect">
            <a:avLst/>
          </a:prstGeom>
          <a:solidFill>
            <a:srgbClr val="3DC97A"/>
          </a:solidFill>
          <a:ln w="12700">
            <a:solidFill>
              <a:srgbClr val="3DC97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0" name="Text 18"/>
          <p:cNvSpPr/>
          <p:nvPr/>
        </p:nvSpPr>
        <p:spPr>
          <a:xfrm>
            <a:off x="5074920" y="2249424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DC9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linear-gradient(to bottom,...)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074920" y="2478024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Фон суретінің үстіне қараңғы gradient — мәтін оқылымды болсын деп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937760" y="2816352"/>
            <a:ext cx="3794760" cy="530352"/>
          </a:xfrm>
          <a:prstGeom prst="rect">
            <a:avLst/>
          </a:prstGeom>
          <a:solidFill>
            <a:srgbClr val="1C2129"/>
          </a:solidFill>
          <a:ln w="12700">
            <a:solidFill>
              <a:srgbClr val="F0883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3" name="Shape 21"/>
          <p:cNvSpPr/>
          <p:nvPr/>
        </p:nvSpPr>
        <p:spPr>
          <a:xfrm>
            <a:off x="4937760" y="2816352"/>
            <a:ext cx="50292" cy="530352"/>
          </a:xfrm>
          <a:prstGeom prst="rect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4" name="Text 22"/>
          <p:cNvSpPr/>
          <p:nvPr/>
        </p:nvSpPr>
        <p:spPr>
          <a:xfrm>
            <a:off x="5074920" y="2852928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088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center/cover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074920" y="3081528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Фон суреті контейнерді толтырады, пропорцияны сақтай кесіп алады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937760" y="3419856"/>
            <a:ext cx="3794760" cy="530352"/>
          </a:xfrm>
          <a:prstGeom prst="rect">
            <a:avLst/>
          </a:prstGeom>
          <a:solidFill>
            <a:srgbClr val="1C2129"/>
          </a:solidFill>
          <a:ln w="12700">
            <a:solidFill>
              <a:srgbClr val="F7DF1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7" name="Shape 25"/>
          <p:cNvSpPr/>
          <p:nvPr/>
        </p:nvSpPr>
        <p:spPr>
          <a:xfrm>
            <a:off x="4937760" y="3419856"/>
            <a:ext cx="50292" cy="530352"/>
          </a:xfrm>
          <a:prstGeom prst="rect">
            <a:avLst/>
          </a:prstGeom>
          <a:solidFill>
            <a:srgbClr val="F7DF1E"/>
          </a:solidFill>
          <a:ln w="12700">
            <a:solidFill>
              <a:srgbClr val="F7DF1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8" name="Text 26"/>
          <p:cNvSpPr/>
          <p:nvPr/>
        </p:nvSpPr>
        <p:spPr>
          <a:xfrm>
            <a:off x="5074920" y="3456432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grid-template-columns: repeat(3,1fr)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074920" y="3685032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тең бағанды CSS Grid — 1fr = «қалған орынның 1 үлесі»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937760" y="4023360"/>
            <a:ext cx="3794760" cy="530352"/>
          </a:xfrm>
          <a:prstGeom prst="rect">
            <a:avLst/>
          </a:prstGeom>
          <a:solidFill>
            <a:srgbClr val="1C2129"/>
          </a:solidFill>
          <a:ln w="12700">
            <a:solidFill>
              <a:srgbClr val="A97BFF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1" name="Shape 29"/>
          <p:cNvSpPr/>
          <p:nvPr/>
        </p:nvSpPr>
        <p:spPr>
          <a:xfrm>
            <a:off x="4937760" y="4023360"/>
            <a:ext cx="50292" cy="530352"/>
          </a:xfrm>
          <a:prstGeom prst="rect">
            <a:avLst/>
          </a:prstGeom>
          <a:solidFill>
            <a:srgbClr val="A97BFF"/>
          </a:solidFill>
          <a:ln w="12700">
            <a:solidFill>
              <a:srgbClr val="A97BFF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2" name="Text 30"/>
          <p:cNvSpPr/>
          <p:nvPr/>
        </p:nvSpPr>
        <p:spPr>
          <a:xfrm>
            <a:off x="5074920" y="4059936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A97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clamp(2rem, 5vw, 4rem)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074920" y="4288536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Адаптивті қаріп: мин 2rem, экранға сәйкес 5vw, макс 4rem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kern="0" spc="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📖  LEARN БЕТТЕРІ — SIDEBAR НАВИГАЦИЯ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11480" y="914400"/>
            <a:ext cx="8321040" cy="4114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" name="Shape 2"/>
          <p:cNvSpPr/>
          <p:nvPr/>
        </p:nvSpPr>
        <p:spPr>
          <a:xfrm>
            <a:off x="411480" y="1005840"/>
            <a:ext cx="4343400" cy="3749040"/>
          </a:xfrm>
          <a:prstGeom prst="rect">
            <a:avLst/>
          </a:prstGeom>
          <a:solidFill>
            <a:srgbClr val="0A0E14"/>
          </a:solidFill>
          <a:ln w="12700">
            <a:solidFill>
              <a:srgbClr val="00A896"/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5" name="Shape 3"/>
          <p:cNvSpPr/>
          <p:nvPr/>
        </p:nvSpPr>
        <p:spPr>
          <a:xfrm>
            <a:off x="411480" y="1005840"/>
            <a:ext cx="4343400" cy="256032"/>
          </a:xfrm>
          <a:prstGeom prst="rect">
            <a:avLst/>
          </a:prstGeom>
          <a:solidFill>
            <a:srgbClr val="1A2030"/>
          </a:solidFill>
          <a:ln w="12700">
            <a:solidFill>
              <a:srgbClr val="1A203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6" name="Shape 4"/>
          <p:cNvSpPr/>
          <p:nvPr/>
        </p:nvSpPr>
        <p:spPr>
          <a:xfrm>
            <a:off x="530352" y="1069848"/>
            <a:ext cx="118872" cy="118872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7" name="Shape 5"/>
          <p:cNvSpPr/>
          <p:nvPr/>
        </p:nvSpPr>
        <p:spPr>
          <a:xfrm>
            <a:off x="694944" y="1069848"/>
            <a:ext cx="118872" cy="118872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8" name="Shape 6"/>
          <p:cNvSpPr/>
          <p:nvPr/>
        </p:nvSpPr>
        <p:spPr>
          <a:xfrm>
            <a:off x="859536" y="1069848"/>
            <a:ext cx="118872" cy="118872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9" name="Text 7"/>
          <p:cNvSpPr/>
          <p:nvPr/>
        </p:nvSpPr>
        <p:spPr>
          <a:xfrm>
            <a:off x="548640" y="1316736"/>
            <a:ext cx="4087368" cy="33467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&lt;!-- learn-*.html структурасы --&gt;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&lt;div class='page-wrap'&gt;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&lt;!-- Сол sidebar --&gt;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C9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&lt;nav class='sidebar'&gt;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&lt;a href='#intro'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class='sidebar-link'&gt;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Introduction&lt;/a&gt;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&lt;a href='#syntax'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class='sidebar-link'&gt;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Syntax&lt;/a&gt;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C9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&lt;/nav&gt;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&lt;!-- Негізгі мазмұн --&gt;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DC9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&lt;main class='content'&gt;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088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&lt;div id='intro'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088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class='learn-section'&gt;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...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088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&lt;/div&gt;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DC9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&lt;/main&gt;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&lt;/div&gt;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Sidebar scroll tracking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window.addEventListener('scroll',()=&gt;{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secs.forEach(s =&gt;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if(scrollY &gt;= s.offsetTop-120)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C9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cur = s.id;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links.forEach(l =&gt;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DC9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l.classList.toggle('active',...)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983480" y="1005840"/>
            <a:ext cx="3749040" cy="530352"/>
          </a:xfrm>
          <a:prstGeom prst="rect">
            <a:avLst/>
          </a:prstGeom>
          <a:solidFill>
            <a:srgbClr val="1C2129"/>
          </a:solidFill>
          <a:ln w="12700">
            <a:solidFill>
              <a:srgbClr val="79C0FF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1" name="Shape 9"/>
          <p:cNvSpPr/>
          <p:nvPr/>
        </p:nvSpPr>
        <p:spPr>
          <a:xfrm>
            <a:off x="4983480" y="1005840"/>
            <a:ext cx="50292" cy="530352"/>
          </a:xfrm>
          <a:prstGeom prst="rect">
            <a:avLst/>
          </a:prstGeom>
          <a:solidFill>
            <a:srgbClr val="79C0FF"/>
          </a:solidFill>
          <a:ln w="12700">
            <a:solidFill>
              <a:srgbClr val="79C0FF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2" name="Text 10"/>
          <p:cNvSpPr/>
          <p:nvPr/>
        </p:nvSpPr>
        <p:spPr>
          <a:xfrm>
            <a:off x="5120640" y="1042416"/>
            <a:ext cx="3520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class='page-wrap'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120640" y="1271016"/>
            <a:ext cx="3520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Grid: sidebar (220px) + main content (1fr) — 2 бағанды макет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983480" y="1609344"/>
            <a:ext cx="3749040" cy="530352"/>
          </a:xfrm>
          <a:prstGeom prst="rect">
            <a:avLst/>
          </a:prstGeom>
          <a:solidFill>
            <a:srgbClr val="1C2129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5" name="Shape 13"/>
          <p:cNvSpPr/>
          <p:nvPr/>
        </p:nvSpPr>
        <p:spPr>
          <a:xfrm>
            <a:off x="4983480" y="1609344"/>
            <a:ext cx="50292" cy="53035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6" name="Text 14"/>
          <p:cNvSpPr/>
          <p:nvPr/>
        </p:nvSpPr>
        <p:spPr>
          <a:xfrm>
            <a:off x="5120640" y="1645920"/>
            <a:ext cx="3520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C9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class='sidebar-link'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120640" y="1874520"/>
            <a:ext cx="3520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Sidebar сілтемелері — scroll-да белсенді бөлімге .active класы қосылады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983480" y="2212848"/>
            <a:ext cx="3749040" cy="530352"/>
          </a:xfrm>
          <a:prstGeom prst="rect">
            <a:avLst/>
          </a:prstGeom>
          <a:solidFill>
            <a:srgbClr val="1C2129"/>
          </a:solidFill>
          <a:ln w="12700">
            <a:solidFill>
              <a:srgbClr val="F7DF1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9" name="Shape 17"/>
          <p:cNvSpPr/>
          <p:nvPr/>
        </p:nvSpPr>
        <p:spPr>
          <a:xfrm>
            <a:off x="4983480" y="2212848"/>
            <a:ext cx="50292" cy="530352"/>
          </a:xfrm>
          <a:prstGeom prst="rect">
            <a:avLst/>
          </a:prstGeom>
          <a:solidFill>
            <a:srgbClr val="F7DF1E"/>
          </a:solidFill>
          <a:ln w="12700">
            <a:solidFill>
              <a:srgbClr val="F7DF1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0" name="Text 18"/>
          <p:cNvSpPr/>
          <p:nvPr/>
        </p:nvSpPr>
        <p:spPr>
          <a:xfrm>
            <a:off x="5120640" y="2249424"/>
            <a:ext cx="3520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href='#intro'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120640" y="2478024"/>
            <a:ext cx="3520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 сілтеме — беттің ішіндегі id='intro' элементіне секіреді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983480" y="2816352"/>
            <a:ext cx="3749040" cy="530352"/>
          </a:xfrm>
          <a:prstGeom prst="rect">
            <a:avLst/>
          </a:prstGeom>
          <a:solidFill>
            <a:srgbClr val="1C2129"/>
          </a:solidFill>
          <a:ln w="12700">
            <a:solidFill>
              <a:srgbClr val="3DC97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3" name="Shape 21"/>
          <p:cNvSpPr/>
          <p:nvPr/>
        </p:nvSpPr>
        <p:spPr>
          <a:xfrm>
            <a:off x="4983480" y="2816352"/>
            <a:ext cx="50292" cy="530352"/>
          </a:xfrm>
          <a:prstGeom prst="rect">
            <a:avLst/>
          </a:prstGeom>
          <a:solidFill>
            <a:srgbClr val="3DC97A"/>
          </a:solidFill>
          <a:ln w="12700">
            <a:solidFill>
              <a:srgbClr val="3DC97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4" name="Text 22"/>
          <p:cNvSpPr/>
          <p:nvPr/>
        </p:nvSpPr>
        <p:spPr>
          <a:xfrm>
            <a:off x="5120640" y="2852928"/>
            <a:ext cx="3520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DC9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s.offsetTop - 120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120640" y="3081528"/>
            <a:ext cx="3520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120px offset — navbar биіктігін есептеп, дұрыс бөлімді анықтайды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983480" y="3419856"/>
            <a:ext cx="3749040" cy="530352"/>
          </a:xfrm>
          <a:prstGeom prst="rect">
            <a:avLst/>
          </a:prstGeom>
          <a:solidFill>
            <a:srgbClr val="1C2129"/>
          </a:solidFill>
          <a:ln w="12700">
            <a:solidFill>
              <a:srgbClr val="F0883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7" name="Shape 25"/>
          <p:cNvSpPr/>
          <p:nvPr/>
        </p:nvSpPr>
        <p:spPr>
          <a:xfrm>
            <a:off x="4983480" y="3419856"/>
            <a:ext cx="50292" cy="530352"/>
          </a:xfrm>
          <a:prstGeom prst="rect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8" name="Text 26"/>
          <p:cNvSpPr/>
          <p:nvPr/>
        </p:nvSpPr>
        <p:spPr>
          <a:xfrm>
            <a:off x="5120640" y="3456432"/>
            <a:ext cx="3520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088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class='learn-section'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120640" y="3685032"/>
            <a:ext cx="3520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Оқу бөлімі — IntersectionObserver осыларды тіркеп анимация іске қосады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983480" y="4023360"/>
            <a:ext cx="3749040" cy="530352"/>
          </a:xfrm>
          <a:prstGeom prst="rect">
            <a:avLst/>
          </a:prstGeom>
          <a:solidFill>
            <a:srgbClr val="1C2129"/>
          </a:solidFill>
          <a:ln w="12700">
            <a:solidFill>
              <a:srgbClr val="A97BFF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1" name="Shape 29"/>
          <p:cNvSpPr/>
          <p:nvPr/>
        </p:nvSpPr>
        <p:spPr>
          <a:xfrm>
            <a:off x="4983480" y="4023360"/>
            <a:ext cx="50292" cy="530352"/>
          </a:xfrm>
          <a:prstGeom prst="rect">
            <a:avLst/>
          </a:prstGeom>
          <a:solidFill>
            <a:srgbClr val="A97BFF"/>
          </a:solidFill>
          <a:ln w="12700">
            <a:solidFill>
              <a:srgbClr val="A97BFF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2" name="Text 30"/>
          <p:cNvSpPr/>
          <p:nvPr/>
        </p:nvSpPr>
        <p:spPr>
          <a:xfrm>
            <a:off x="5120640" y="4059936"/>
            <a:ext cx="3520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A97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classList.toggle('active',...)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120640" y="4288536"/>
            <a:ext cx="3520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Sidebar-да ағымдағы бөлімнің сілтемесі белгіленеді — active класы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kern="0" spc="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📊  ЖОБА СИПАТТАМАСЫ — ТОЛЫҚ ШОЛУ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11480" y="914400"/>
            <a:ext cx="8321040" cy="4114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" name="Shape 2"/>
          <p:cNvSpPr/>
          <p:nvPr/>
        </p:nvSpPr>
        <p:spPr>
          <a:xfrm>
            <a:off x="411480" y="1078992"/>
            <a:ext cx="2651760" cy="1051560"/>
          </a:xfrm>
          <a:prstGeom prst="rect">
            <a:avLst/>
          </a:prstGeom>
          <a:solidFill>
            <a:srgbClr val="1C2129"/>
          </a:solidFill>
          <a:ln w="12700">
            <a:solidFill>
              <a:srgbClr val="F7DF1E"/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5" name="Text 3"/>
          <p:cNvSpPr/>
          <p:nvPr/>
        </p:nvSpPr>
        <p:spPr>
          <a:xfrm>
            <a:off x="548640" y="1152144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7DF1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18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682496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файлдар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337560" y="1078992"/>
            <a:ext cx="2651760" cy="1051560"/>
          </a:xfrm>
          <a:prstGeom prst="rect">
            <a:avLst/>
          </a:prstGeom>
          <a:solidFill>
            <a:srgbClr val="1C2129"/>
          </a:solidFill>
          <a:ln w="12700">
            <a:solidFill>
              <a:srgbClr val="3DC97A"/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8" name="Text 6"/>
          <p:cNvSpPr/>
          <p:nvPr/>
        </p:nvSpPr>
        <p:spPr>
          <a:xfrm>
            <a:off x="3474720" y="1152144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u-RU" sz="3000" b="1" dirty="0">
                <a:solidFill>
                  <a:srgbClr val="3DC97A"/>
                </a:solidFill>
                <a:latin typeface="Arial Black" pitchFamily="34" charset="0"/>
              </a:rPr>
              <a:t>3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474720" y="1682496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kk-KZ" sz="12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</a:t>
            </a:r>
            <a:r>
              <a:rPr lang="en-US" sz="1200" dirty="0" err="1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ехнологиямен</a:t>
            </a:r>
            <a:r>
              <a:rPr lang="en-US" sz="12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жасалды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63640" y="1078992"/>
            <a:ext cx="2651760" cy="1051560"/>
          </a:xfrm>
          <a:prstGeom prst="rect">
            <a:avLst/>
          </a:prstGeom>
          <a:solidFill>
            <a:srgbClr val="1C2129"/>
          </a:solidFill>
          <a:ln w="12700">
            <a:solidFill>
              <a:srgbClr val="00C9A7"/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1" name="Text 9"/>
          <p:cNvSpPr/>
          <p:nvPr/>
        </p:nvSpPr>
        <p:spPr>
          <a:xfrm>
            <a:off x="6400800" y="1152144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C9A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801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6400800" y="1682496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жол (style.css)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11480" y="2267712"/>
            <a:ext cx="2651760" cy="1051560"/>
          </a:xfrm>
          <a:prstGeom prst="rect">
            <a:avLst/>
          </a:prstGeom>
          <a:solidFill>
            <a:srgbClr val="1C2129"/>
          </a:solidFill>
          <a:ln w="12700">
            <a:solidFill>
              <a:srgbClr val="F0883E"/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4" name="Text 12"/>
          <p:cNvSpPr/>
          <p:nvPr/>
        </p:nvSpPr>
        <p:spPr>
          <a:xfrm>
            <a:off x="548640" y="2340864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0883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223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548640" y="2871216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 жол (script.js)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337560" y="2267712"/>
            <a:ext cx="2651760" cy="1051560"/>
          </a:xfrm>
          <a:prstGeom prst="rect">
            <a:avLst/>
          </a:prstGeom>
          <a:solidFill>
            <a:srgbClr val="1C2129"/>
          </a:solidFill>
          <a:ln w="12700">
            <a:solidFill>
              <a:srgbClr val="79C0FF"/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7" name="Text 15"/>
          <p:cNvSpPr/>
          <p:nvPr/>
        </p:nvSpPr>
        <p:spPr>
          <a:xfrm>
            <a:off x="3474720" y="2340864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79C0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3474720" y="2871216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Тіл (EN/RU/KZ)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63640" y="2267712"/>
            <a:ext cx="2651760" cy="1051560"/>
          </a:xfrm>
          <a:prstGeom prst="rect">
            <a:avLst/>
          </a:prstGeom>
          <a:solidFill>
            <a:srgbClr val="1C2129"/>
          </a:solidFill>
          <a:ln w="12700">
            <a:solidFill>
              <a:srgbClr val="A97BFF"/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20" name="Text 18"/>
          <p:cNvSpPr/>
          <p:nvPr/>
        </p:nvSpPr>
        <p:spPr>
          <a:xfrm>
            <a:off x="6400800" y="2340864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A97B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12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6400800" y="2871216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Оқу беттері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11480" y="3520440"/>
            <a:ext cx="2651760" cy="1097280"/>
          </a:xfrm>
          <a:prstGeom prst="rect">
            <a:avLst/>
          </a:prstGeom>
          <a:solidFill>
            <a:srgbClr val="1C2129"/>
          </a:solidFill>
          <a:ln w="12700">
            <a:solidFill>
              <a:srgbClr val="F0883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3" name="Shape 21"/>
          <p:cNvSpPr/>
          <p:nvPr/>
        </p:nvSpPr>
        <p:spPr>
          <a:xfrm>
            <a:off x="411480" y="3520440"/>
            <a:ext cx="2651760" cy="54864"/>
          </a:xfrm>
          <a:prstGeom prst="rect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4" name="Text 22"/>
          <p:cNvSpPr/>
          <p:nvPr/>
        </p:nvSpPr>
        <p:spPr>
          <a:xfrm>
            <a:off x="548640" y="3648456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0883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HTML5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48640" y="406908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Семантикалық теглер, data-атрибуттар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337560" y="3520440"/>
            <a:ext cx="2651760" cy="1097280"/>
          </a:xfrm>
          <a:prstGeom prst="rect">
            <a:avLst/>
          </a:prstGeom>
          <a:solidFill>
            <a:srgbClr val="1C2129"/>
          </a:solidFill>
          <a:ln w="12700">
            <a:solidFill>
              <a:srgbClr val="79C0FF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7" name="Shape 25"/>
          <p:cNvSpPr/>
          <p:nvPr/>
        </p:nvSpPr>
        <p:spPr>
          <a:xfrm>
            <a:off x="3337560" y="3520440"/>
            <a:ext cx="2651760" cy="54864"/>
          </a:xfrm>
          <a:prstGeom prst="rect">
            <a:avLst/>
          </a:prstGeom>
          <a:solidFill>
            <a:srgbClr val="79C0FF"/>
          </a:solidFill>
          <a:ln w="12700">
            <a:solidFill>
              <a:srgbClr val="79C0FF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8" name="Text 26"/>
          <p:cNvSpPr/>
          <p:nvPr/>
        </p:nvSpPr>
        <p:spPr>
          <a:xfrm>
            <a:off x="3474720" y="3648456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79C0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CSS3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3474720" y="406908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Flex, Grid, transition, :hover, dark mode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263640" y="3520440"/>
            <a:ext cx="2651760" cy="1097280"/>
          </a:xfrm>
          <a:prstGeom prst="rect">
            <a:avLst/>
          </a:prstGeom>
          <a:solidFill>
            <a:srgbClr val="1C2129"/>
          </a:solidFill>
          <a:ln w="12700">
            <a:solidFill>
              <a:srgbClr val="F7DF1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1" name="Shape 29"/>
          <p:cNvSpPr/>
          <p:nvPr/>
        </p:nvSpPr>
        <p:spPr>
          <a:xfrm>
            <a:off x="6263640" y="3520440"/>
            <a:ext cx="2651760" cy="54864"/>
          </a:xfrm>
          <a:prstGeom prst="rect">
            <a:avLst/>
          </a:prstGeom>
          <a:solidFill>
            <a:srgbClr val="F7DF1E"/>
          </a:solidFill>
          <a:ln w="12700">
            <a:solidFill>
              <a:srgbClr val="F7DF1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2" name="Text 30"/>
          <p:cNvSpPr/>
          <p:nvPr/>
        </p:nvSpPr>
        <p:spPr>
          <a:xfrm>
            <a:off x="6400800" y="3648456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7DF1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Vanilla JS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400800" y="406908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DOM, localStorage, IntersectionObserver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-457200"/>
            <a:ext cx="3657600" cy="3657600"/>
          </a:xfrm>
          <a:prstGeom prst="ellipse">
            <a:avLst/>
          </a:prstGeom>
          <a:solidFill>
            <a:srgbClr val="00C9A7">
              <a:alpha val="10000"/>
            </a:srgbClr>
          </a:solidFill>
          <a:ln w="12700">
            <a:solidFill>
              <a:srgbClr val="00C9A7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6858000" y="2743200"/>
            <a:ext cx="3200400" cy="3200400"/>
          </a:xfrm>
          <a:prstGeom prst="ellipse">
            <a:avLst/>
          </a:prstGeom>
          <a:solidFill>
            <a:srgbClr val="79C0FF">
              <a:alpha val="12000"/>
            </a:srgbClr>
          </a:solidFill>
          <a:ln w="12700">
            <a:solidFill>
              <a:srgbClr val="79C0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" name="Text 2"/>
          <p:cNvSpPr/>
          <p:nvPr/>
        </p:nvSpPr>
        <p:spPr>
          <a:xfrm>
            <a:off x="731520" y="731520"/>
            <a:ext cx="76809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600" b="1" kern="0" spc="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CODY TECH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731520" y="1828800"/>
            <a:ext cx="7680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Сайт 3 технологиямен жасалды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2468880"/>
            <a:ext cx="2468880" cy="1508760"/>
          </a:xfrm>
          <a:prstGeom prst="rect">
            <a:avLst/>
          </a:prstGeom>
          <a:solidFill>
            <a:srgbClr val="1C2129"/>
          </a:solidFill>
          <a:ln w="12700">
            <a:solidFill>
              <a:srgbClr val="F0883E"/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7" name="Shape 5"/>
          <p:cNvSpPr/>
          <p:nvPr/>
        </p:nvSpPr>
        <p:spPr>
          <a:xfrm>
            <a:off x="640080" y="2468880"/>
            <a:ext cx="2468880" cy="54864"/>
          </a:xfrm>
          <a:prstGeom prst="rect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8" name="Text 6"/>
          <p:cNvSpPr/>
          <p:nvPr/>
        </p:nvSpPr>
        <p:spPr>
          <a:xfrm>
            <a:off x="777240" y="2578608"/>
            <a:ext cx="2194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0883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🌐 HTML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77240" y="3063240"/>
            <a:ext cx="21945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Беттің скелеті — data-i, navbar, hero, grid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383280" y="2468880"/>
            <a:ext cx="2468880" cy="1508760"/>
          </a:xfrm>
          <a:prstGeom prst="rect">
            <a:avLst/>
          </a:prstGeom>
          <a:solidFill>
            <a:srgbClr val="1C2129"/>
          </a:solidFill>
          <a:ln w="12700">
            <a:solidFill>
              <a:srgbClr val="79C0FF"/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1" name="Shape 9"/>
          <p:cNvSpPr/>
          <p:nvPr/>
        </p:nvSpPr>
        <p:spPr>
          <a:xfrm>
            <a:off x="3383280" y="2468880"/>
            <a:ext cx="2468880" cy="54864"/>
          </a:xfrm>
          <a:prstGeom prst="rect">
            <a:avLst/>
          </a:prstGeom>
          <a:solidFill>
            <a:srgbClr val="79C0FF"/>
          </a:solidFill>
          <a:ln w="12700">
            <a:solidFill>
              <a:srgbClr val="79C0FF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2" name="Text 10"/>
          <p:cNvSpPr/>
          <p:nvPr/>
        </p:nvSpPr>
        <p:spPr>
          <a:xfrm>
            <a:off x="3520440" y="2578608"/>
            <a:ext cx="2194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79C0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🎨 CSS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520440" y="3063240"/>
            <a:ext cx="21945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Dark/Light тема, hover, flex, grid, анимация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26480" y="2468880"/>
            <a:ext cx="2468880" cy="1508760"/>
          </a:xfrm>
          <a:prstGeom prst="rect">
            <a:avLst/>
          </a:prstGeom>
          <a:solidFill>
            <a:srgbClr val="1C2129"/>
          </a:solidFill>
          <a:ln w="12700">
            <a:solidFill>
              <a:srgbClr val="F7DF1E"/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5" name="Shape 13"/>
          <p:cNvSpPr/>
          <p:nvPr/>
        </p:nvSpPr>
        <p:spPr>
          <a:xfrm>
            <a:off x="6126480" y="2468880"/>
            <a:ext cx="2468880" cy="54864"/>
          </a:xfrm>
          <a:prstGeom prst="rect">
            <a:avLst/>
          </a:prstGeom>
          <a:solidFill>
            <a:srgbClr val="F7DF1E"/>
          </a:solidFill>
          <a:ln w="12700">
            <a:solidFill>
              <a:srgbClr val="F7DF1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6" name="Text 14"/>
          <p:cNvSpPr/>
          <p:nvPr/>
        </p:nvSpPr>
        <p:spPr>
          <a:xfrm>
            <a:off x="6263640" y="2578608"/>
            <a:ext cx="2194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7DF1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⚡ JavaScript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263640" y="3063240"/>
            <a:ext cx="21945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localStorage auth, тіл жүйесі, scroll эффект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828800" y="475488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Cody Tech — Барлық құқықтар қорғалған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85</TotalTime>
  <Words>2953</Words>
  <Application>Microsoft Office PowerPoint</Application>
  <PresentationFormat>Экран (16:9)</PresentationFormat>
  <Paragraphs>541</Paragraphs>
  <Slides>16</Slides>
  <Notes>16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16</vt:i4>
      </vt:variant>
    </vt:vector>
  </HeadingPairs>
  <TitlesOfParts>
    <vt:vector size="21" baseType="lpstr">
      <vt:lpstr>Arial</vt:lpstr>
      <vt:lpstr>Arial Black</vt:lpstr>
      <vt:lpstr>Calibri</vt:lpstr>
      <vt:lpstr>Courier New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Cody Tech — Сайт қалай жасалды</dc:title>
  <dc:subject>PptxGenJS Presentation</dc:subject>
  <dc:creator>PptxGenJS</dc:creator>
  <cp:lastModifiedBy>Zhanuzak Baltash</cp:lastModifiedBy>
  <cp:revision>2</cp:revision>
  <dcterms:created xsi:type="dcterms:W3CDTF">2026-04-19T08:51:21Z</dcterms:created>
  <dcterms:modified xsi:type="dcterms:W3CDTF">2026-04-19T14:32:43Z</dcterms:modified>
</cp:coreProperties>
</file>